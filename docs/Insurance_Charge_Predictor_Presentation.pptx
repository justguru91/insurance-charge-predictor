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d430a421b84667" /><Relationship Type="http://schemas.openxmlformats.org/officeDocument/2006/relationships/extended-properties" Target="/docProps/app.xml" Id="R52cbb0b45db445d4" /><Relationship Type="http://schemas.openxmlformats.org/officeDocument/2006/relationships/officeDocument" Target="/ppt/presentation.xml" Id="R2c8072bee90144ad" /></Relationships>
</file>

<file path=ppt/presentation.xml><?xml version="1.0" encoding="utf-8"?>
<p:presentation xmlns:p="http://schemas.openxmlformats.org/presentationml/2006/main">
  <p:sldMasterIdLst>
    <p:sldMasterId xmlns:r="http://schemas.openxmlformats.org/officeDocument/2006/relationships" id="2147483648" r:id="Rb5ddc5ff70a0404f"/>
  </p:sldMasterIdLst>
  <p:notesMasterIdLst>
    <p:notesMasterId xmlns:r="http://schemas.openxmlformats.org/officeDocument/2006/relationships" r:id="R2b7ad05bbaca4c1c"/>
  </p:notesMasterIdLst>
  <p:sldIdLst>
    <p:sldId xmlns:r="http://schemas.openxmlformats.org/officeDocument/2006/relationships" id="256" r:id="Ra144179616ec4444"/>
    <p:sldId xmlns:r="http://schemas.openxmlformats.org/officeDocument/2006/relationships" id="257" r:id="R38445463cafd48db"/>
    <p:sldId xmlns:r="http://schemas.openxmlformats.org/officeDocument/2006/relationships" id="258" r:id="Rf869a9bfc84c4351"/>
    <p:sldId xmlns:r="http://schemas.openxmlformats.org/officeDocument/2006/relationships" id="259" r:id="R18dc9cf1106141cc"/>
    <p:sldId xmlns:r="http://schemas.openxmlformats.org/officeDocument/2006/relationships" id="260" r:id="R8f795aad189546e3"/>
    <p:sldId xmlns:r="http://schemas.openxmlformats.org/officeDocument/2006/relationships" id="261" r:id="Rbe2dfa86307b49d4"/>
    <p:sldId xmlns:r="http://schemas.openxmlformats.org/officeDocument/2006/relationships" id="262" r:id="Ra97d2d59cb4c4474"/>
    <p:sldId xmlns:r="http://schemas.openxmlformats.org/officeDocument/2006/relationships" id="263" r:id="Rc5fb07b70ec94b56"/>
    <p:sldId xmlns:r="http://schemas.openxmlformats.org/officeDocument/2006/relationships" id="264" r:id="R0a45d404eb3a4a3c"/>
    <p:sldId xmlns:r="http://schemas.openxmlformats.org/officeDocument/2006/relationships" id="265" r:id="R94b3f63715ed4e91"/>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0B91DE8E-7D31-4855-8ECD-A43F555BC76C}">
  <a:tblStyle styleId="{0B91DE8E-7D31-4855-8ECD-A43F555BC76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f158b638a41c4237" /><Relationship Type="http://schemas.openxmlformats.org/officeDocument/2006/relationships/slideMaster" Target="/ppt/slideMasters/slideMaster1.xml" Id="Rb5ddc5ff70a0404f" /><Relationship Type="http://schemas.openxmlformats.org/officeDocument/2006/relationships/notesMaster" Target="/ppt/notesMasters/notesMaster1.xml" Id="R2b7ad05bbaca4c1c" /><Relationship Type="http://schemas.openxmlformats.org/officeDocument/2006/relationships/presProps" Target="/ppt/presProps.xml" Id="R74b02599879448f8" /><Relationship Type="http://schemas.openxmlformats.org/officeDocument/2006/relationships/tableStyles" Target="/ppt/tableStyles.xml" Id="R621c3736f5d142e6" /><Relationship Type="http://schemas.openxmlformats.org/officeDocument/2006/relationships/slide" Target="/ppt/slides/slide1.xml" Id="Ra144179616ec4444" /><Relationship Type="http://schemas.openxmlformats.org/officeDocument/2006/relationships/slide" Target="/ppt/slides/slide2.xml" Id="R38445463cafd48db" /><Relationship Type="http://schemas.openxmlformats.org/officeDocument/2006/relationships/slide" Target="/ppt/slides/slide3.xml" Id="Rf869a9bfc84c4351" /><Relationship Type="http://schemas.openxmlformats.org/officeDocument/2006/relationships/slide" Target="/ppt/slides/slide4.xml" Id="R18dc9cf1106141cc" /><Relationship Type="http://schemas.openxmlformats.org/officeDocument/2006/relationships/slide" Target="/ppt/slides/slide5.xml" Id="R8f795aad189546e3" /><Relationship Type="http://schemas.openxmlformats.org/officeDocument/2006/relationships/slide" Target="/ppt/slides/slide6.xml" Id="Rbe2dfa86307b49d4" /><Relationship Type="http://schemas.openxmlformats.org/officeDocument/2006/relationships/slide" Target="/ppt/slides/slide7.xml" Id="Ra97d2d59cb4c4474" /><Relationship Type="http://schemas.openxmlformats.org/officeDocument/2006/relationships/slide" Target="/ppt/slides/slide8.xml" Id="Rc5fb07b70ec94b56" /><Relationship Type="http://schemas.openxmlformats.org/officeDocument/2006/relationships/slide" Target="/ppt/slides/slide9.xml" Id="R0a45d404eb3a4a3c" /><Relationship Type="http://schemas.openxmlformats.org/officeDocument/2006/relationships/slide" Target="/ppt/slides/slide10.xml" Id="R94b3f63715ed4e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f3dea89d524e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003b1b3f68401d" /><Relationship Type="http://schemas.openxmlformats.org/officeDocument/2006/relationships/notesMaster" Target="/ppt/notesMasters/notesMaster1.xml" Id="Re842a1bbd0e741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fcd00de9204cba" /><Relationship Type="http://schemas.openxmlformats.org/officeDocument/2006/relationships/notesMaster" Target="/ppt/notesMasters/notesMaster1.xml" Id="Rc2e204033ab141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dbcc48054d45fe" /><Relationship Type="http://schemas.openxmlformats.org/officeDocument/2006/relationships/notesMaster" Target="/ppt/notesMasters/notesMaster1.xml" Id="R6b6fe57369384d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5c91c4426e4dcd" /><Relationship Type="http://schemas.openxmlformats.org/officeDocument/2006/relationships/notesMaster" Target="/ppt/notesMasters/notesMaster1.xml" Id="R3f13e3a709c34b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58daf1a94f4c40" /><Relationship Type="http://schemas.openxmlformats.org/officeDocument/2006/relationships/notesMaster" Target="/ppt/notesMasters/notesMaster1.xml" Id="Rd8af387b29f549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ab5d173d734f53" /><Relationship Type="http://schemas.openxmlformats.org/officeDocument/2006/relationships/notesMaster" Target="/ppt/notesMasters/notesMaster1.xml" Id="Redbff098508f47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53c2c7af264b33" /><Relationship Type="http://schemas.openxmlformats.org/officeDocument/2006/relationships/notesMaster" Target="/ppt/notesMasters/notesMaster1.xml" Id="R6a7fbb11593f48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0b3789e3694f80" /><Relationship Type="http://schemas.openxmlformats.org/officeDocument/2006/relationships/notesMaster" Target="/ppt/notesMasters/notesMaster1.xml" Id="Re7b126a89dcb44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024d3ae14548b9" /><Relationship Type="http://schemas.openxmlformats.org/officeDocument/2006/relationships/notesMaster" Target="/ppt/notesMasters/notesMaster1.xml" Id="R7bba0c28d7de41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e0538cee9c44c3" /><Relationship Type="http://schemas.openxmlformats.org/officeDocument/2006/relationships/notesMaster" Target="/ppt/notesMasters/notesMaster1.xml" Id="R99af7e6248b14c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rPr sz="1200" b="0" i="0" u="none" strike="noStrike" cap="none">
                <a:solidFill>
                  <a:schemeClr val="dk1"/>
                </a:solidFill>
                <a:latin typeface="Calibri"/>
                <a:ea typeface="Calibri"/>
                <a:cs typeface="Calibri"/>
              </a:rPr>
              <a:t>Insurance Charge Predictor, an educational regression project. Presenter: Gurmeet Singh, university roll number 2301531530027, CSE (AIML), Section D. Host organisation, duration, dates and mentor details remain editable fields. Dataset source: https://github.com/stedy/Machine-Learning-with-R-datasets/blob/master/insurance.csv. The model estimates historical benchmark medical charges in USD.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rPr sz="1200" b="0" i="0" u="none" strike="noStrike" cap="none">
                <a:solidFill>
                  <a:schemeClr val="dk1"/>
                </a:solidFill>
                <a:latin typeface="Calibri"/>
                <a:ea typeface="Calibri"/>
                <a:cs typeface="Calibri"/>
              </a:rPr>
              <a:t>The six inputs are age, sex, BMI, number of dependents, smoking status and US region. Target charges is a continuous amount. The template organisation and internship details require confirmation. Data source: data/SOURCE.md and https://github.com/stedy/Machine-Learning-with-R-datasets/blob/master/insurance.csv.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rPr sz="1200" b="0" i="0" u="none" strike="noStrike" cap="none">
                <a:solidFill>
                  <a:schemeClr val="dk1"/>
                </a:solidFill>
                <a:latin typeface="Calibri"/>
                <a:ea typeface="Calibri"/>
                <a:cs typeface="Calibri"/>
              </a:rPr>
              <a:t>This is regression because the output is a numeric charge. Distinguish it from the earlier classification project. Cleaning retains valid high-cost observations. The app is an academic estimate, not a current policy quote. Local evidence: src/train.py, src/schema.py and reports/data_audit.json.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rPr sz="1200" b="0" i="0" u="none" strike="noStrike" cap="none">
                <a:solidFill>
                  <a:schemeClr val="dk1"/>
                </a:solidFill>
                <a:latin typeface="Calibri"/>
                <a:ea typeface="Calibri"/>
                <a:cs typeface="Calibri"/>
              </a:rPr>
              <a:t>The running interface uses Python HTTPServer, not Flask or Streamlit. It has no API keys and does not require internet after dependencies are installed. See requirements.txt and reports/tested_versions.json for versions.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rPr sz="1200" b="0" i="0" u="none" strike="noStrike" cap="none">
                <a:solidFill>
                  <a:schemeClr val="dk1"/>
                </a:solidFill>
                <a:latin typeface="Calibri"/>
                <a:ea typeface="Calibri"/>
                <a:cs typeface="Calibri"/>
              </a:rPr>
              <a:t>This is a project activity sequence, not evidence of a six-week internship. Week/date fields must be completed from the actual diary. No company induction, attendance, or duration has been invented.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rPr sz="1200" b="0" i="0" u="none" strike="noStrike" cap="none">
                <a:solidFill>
                  <a:schemeClr val="dk1"/>
                </a:solidFill>
                <a:latin typeface="Calibri"/>
                <a:ea typeface="Calibri"/>
                <a:cs typeface="Calibri"/>
              </a:rPr>
              <a:t>Measured results: reports/metrics.json and reports/model_comparison.csv. Gradient boosting: 250 depth-two trees, learning rate 0.04, Huber loss. Lowest mean five-fold training CV MAE selected it. Test MAE $1,352.65, RMSE $3,297.50, R² 0.9246. CV MAE $2,097.37 and CV R² 0.8344. The difference illustrates split variability. The screenshot shows age 45, male, BMI 31.5, two dependents, smoker, southeast, estimate $40,856.24. A matching non-smoker preset estimates $8,934.37. Associations do not establish causality. Source: local app_demo.png and measured project artifacts.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rPr sz="1200" b="0" i="0" u="none" strike="noStrike" cap="none">
                <a:solidFill>
                  <a:schemeClr val="dk1"/>
                </a:solidFill>
                <a:latin typeface="Calibri"/>
                <a:ea typeface="Calibri"/>
                <a:cs typeface="Calibri"/>
              </a:rPr>
              <a:t>Explain model and software learning using the actual code. Limitations include small historical US data, restricted categories and no external validation. The prototype does not establish current Indian pricing or policy eligibility. Reproducibility checks are in src/verify.py and reports/verification.txt.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rPr sz="1200" b="0" i="0" u="none" strike="noStrike" cap="none">
                <a:solidFill>
                  <a:schemeClr val="dk1"/>
                </a:solidFill>
                <a:latin typeface="Calibri"/>
                <a:ea typeface="Calibri"/>
                <a:cs typeface="Calibri"/>
              </a:rPr>
              <a:t>Prepared files are available locally. No official institutional submission or certificate issuance is claimed. Offer letter, completion certificate, dates, mentor details and feedback require authentic documents and confirmation.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Suggested demonstration: open http://127.0.0.1:8502; choose Family profile and predict; add to comparison; choose Smoker profile and predict; show evaluation metrics, data audit and batch CSV. Presenter: Gurmeet Singh, 2301531530027, CSE (AIML), Section 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bb9958f9ab4854"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62f27d6eb249c3" /><Relationship Type="http://schemas.openxmlformats.org/officeDocument/2006/relationships/slideLayout" Target="/ppt/slideLayouts/slideLayout1.xml" Id="Rd3e351c976f640b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3e351c976f640b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a0c5f046394663" /><Relationship Type="http://schemas.openxmlformats.org/officeDocument/2006/relationships/image" Target="/ppt/media/image.png" Id="R8896bccbbe894212" /><Relationship Type="http://schemas.openxmlformats.org/officeDocument/2006/relationships/notesSlide" Target="/ppt/notesSlides/notesSlide1.xml" Id="Ra82beb781a1c47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803fbbf53f4518" /><Relationship Type="http://schemas.openxmlformats.org/officeDocument/2006/relationships/notesSlide" Target="/ppt/notesSlides/notesSlide2.xml" Id="Rc59cac6942fe40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832b7bc74d410d" /><Relationship Type="http://schemas.openxmlformats.org/officeDocument/2006/relationships/notesSlide" Target="/ppt/notesSlides/notesSlide3.xml" Id="R86dc65aae2934c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5f67599367481b" /><Relationship Type="http://schemas.openxmlformats.org/officeDocument/2006/relationships/notesSlide" Target="/ppt/notesSlides/notesSlide4.xml" Id="Re8d7d20fe2b541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c3dad0604244c0" /><Relationship Type="http://schemas.openxmlformats.org/officeDocument/2006/relationships/notesSlide" Target="/ppt/notesSlides/notesSlide5.xml" Id="Rff11477410b44b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b859df7d004a9c" /><Relationship Type="http://schemas.openxmlformats.org/officeDocument/2006/relationships/notesSlide" Target="/ppt/notesSlides/notesSlide6.xml" Id="Rf0c6c36787ec4d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9969a12e6c4a30" /><Relationship Type="http://schemas.openxmlformats.org/officeDocument/2006/relationships/image" Target="/ppt/media/image.jpeg" Id="Reeb3b8002e184598" /><Relationship Type="http://schemas.openxmlformats.org/officeDocument/2006/relationships/notesSlide" Target="/ppt/notesSlides/notesSlide7.xml" Id="Rbe9da5e956cc4a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1f884254224df9" /><Relationship Type="http://schemas.openxmlformats.org/officeDocument/2006/relationships/notesSlide" Target="/ppt/notesSlides/notesSlide8.xml" Id="Rc52c2ac43d664d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b9b64642e34b50" /><Relationship Type="http://schemas.openxmlformats.org/officeDocument/2006/relationships/notesSlide" Target="/ppt/notesSlides/notesSlide9.xml" Id="R7972b08974194e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e7e4f6fc7d48fe" /><Relationship Type="http://schemas.openxmlformats.org/officeDocument/2006/relationships/notesSlide" Target="/ppt/notesSlides/notesSlide10.xml" Id="R95314f2bf2ca4349" /></Relationships>
</file>

<file path=ppt/slides/slide1.xml><?xml version="1.0" encoding="utf-8"?>
<p:sld xmlns:p="http://schemas.openxmlformats.org/presentationml/2006/main">
  <p:cSld>
    <p:bg>
      <p:bgPr>
        <a:solidFill xmlns:a="http://schemas.openxmlformats.org/drawingml/2006/main">
          <a:srgbClr val="21295C"/>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38441725-8315-4E48-BFD6-C0C25A39472A}"/>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18039"/>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7" name="Google Shape;17;p3">
            <a:extLst xmlns:a="http://schemas.openxmlformats.org/drawingml/2006/main">
              <a:ext uri="{FF2B5EF4-FFF2-40B4-BE49-F238E27FC236}">
                <a16:creationId xmlns:a16="http://schemas.microsoft.com/office/drawing/2014/main" id="{A68AF79C-C2D2-4BC1-8D7B-487CBE7CB2CD}"/>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CFE3EE">
              <a:alpha val="10196"/>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8" name="Google Shape;18;p3">
            <a:extLst xmlns:a="http://schemas.openxmlformats.org/drawingml/2006/main">
              <a:ext uri="{FF2B5EF4-FFF2-40B4-BE49-F238E27FC236}">
                <a16:creationId xmlns:a16="http://schemas.microsoft.com/office/drawing/2014/main" id="{CE894DD3-0D96-45DA-B3BD-CAB5FCB65FB6}"/>
              </a:ext>
            </a:extLst>
          </p:cNvPr>
          <p:cNvSpPr>
            <a:spLocks xmlns:a="http://schemas.openxmlformats.org/drawingml/2006/main" noGrp="1"/>
          </p:cNvSpPr>
          <p:nvPr/>
        </p:nvSpPr>
        <p:spPr>
          <a:xfrm xmlns:a="http://schemas.openxmlformats.org/drawingml/2006/main">
            <a:off x="914400" y="1691640"/>
            <a:ext cx="103601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2700" b="1" i="0" u="none" strike="noStrike" cap="none">
                <a:solidFill>
                  <a:srgbClr val="FFFFFF"/>
                </a:solidFill>
                <a:latin typeface="Calibri"/>
                <a:ea typeface="Calibri"/>
                <a:cs typeface="Calibri"/>
              </a:rPr>
              <a:t>LLOYD INSTITUTE OF ENGINEERING &amp; TECHNOLOGY</a:t>
            </a:r>
            <a:endParaRPr sz="2700" b="0" i="0" u="none" strike="noStrik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B458DAAA-1A74-4514-97A7-B24F948BD1B7}"/>
              </a:ext>
            </a:extLst>
          </p:cNvPr>
          <p:cNvSpPr>
            <a:spLocks xmlns:a="http://schemas.openxmlformats.org/drawingml/2006/main" noGrp="1"/>
          </p:cNvSpPr>
          <p:nvPr/>
        </p:nvSpPr>
        <p:spPr>
          <a:xfrm xmlns:a="http://schemas.openxmlformats.org/drawingml/2006/main">
            <a:off x="914400" y="2114821"/>
            <a:ext cx="103602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250"/>
              <a:buFont typeface="Calibri"/>
              <a:buNone/>
            </a:pPr>
            <a:r>
              <a:rPr sz="1750" b="0" i="0" u="none" strike="noStrike" cap="none">
                <a:solidFill>
                  <a:srgbClr val="CFE3EE"/>
                </a:solidFill>
                <a:latin typeface="Calibri"/>
                <a:ea typeface="Calibri"/>
                <a:cs typeface="Calibri"/>
              </a:rPr>
              <a:t>    Department of Computer Science &amp; Engineering</a:t>
            </a:r>
            <a:endParaRPr sz="1750" b="0" i="0" u="none" strike="noStrik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8341BA5A-38D0-4C6B-A604-AAA0B94132A4}"/>
              </a:ext>
            </a:extLst>
          </p:cNvPr>
          <p:cNvSpPr>
            <a:spLocks xmlns:a="http://schemas.openxmlformats.org/drawingml/2006/main" noGrp="1"/>
          </p:cNvSpPr>
          <p:nvPr/>
        </p:nvSpPr>
        <p:spPr>
          <a:xfrm xmlns:a="http://schemas.openxmlformats.org/drawingml/2006/main">
            <a:off x="914400" y="2715775"/>
            <a:ext cx="103602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FB6CE"/>
              </a:buClr>
              <a:buSzPts val="1200"/>
              <a:buFont typeface="Calibri"/>
              <a:buNone/>
            </a:pPr>
            <a:r>
              <a:rPr sz="2000" b="1" i="0" u="none" strike="noStrike" cap="none">
                <a:solidFill>
                  <a:srgbClr val="6FB6CE"/>
                </a:solidFill>
                <a:latin typeface="Calibri"/>
                <a:ea typeface="Calibri"/>
                <a:cs typeface="Calibri"/>
              </a:rPr>
              <a:t>B.TECH  </a:t>
            </a:r>
            <a:r>
              <a:rPr sz="2000" b="1" i="0" u="none" strike="noStrike" cap="none">
                <a:solidFill>
                  <a:srgbClr val="6FB6CE"/>
                </a:solidFill>
                <a:latin typeface="Calibri"/>
                <a:ea typeface="Calibri"/>
                <a:cs typeface="Calibri"/>
              </a:rPr>
              <a:t>IV</a:t>
            </a:r>
            <a:r>
              <a:rPr sz="2000" b="1" i="0" u="none" strike="noStrike" cap="none">
                <a:solidFill>
                  <a:srgbClr val="6FB6CE"/>
                </a:solidFill>
                <a:latin typeface="Calibri"/>
                <a:ea typeface="Calibri"/>
                <a:cs typeface="Calibri"/>
              </a:rPr>
              <a:t>  YEAR  SUMMER INTERNSHIP</a:t>
            </a:r>
            <a:endParaRPr sz="2000" b="0" i="0" u="none" strike="noStrike" cap="none">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BCE2CC80-5731-48E7-900B-3DE25BB1130A}"/>
              </a:ext>
            </a:extLst>
          </p:cNvPr>
          <p:cNvSpPr>
            <a:spLocks xmlns:a="http://schemas.openxmlformats.org/drawingml/2006/main" noGrp="1"/>
          </p:cNvSpPr>
          <p:nvPr/>
        </p:nvSpPr>
        <p:spPr>
          <a:xfrm xmlns:a="http://schemas.openxmlformats.org/drawingml/2006/main">
            <a:off x="1280160" y="3200400"/>
            <a:ext cx="9628632" cy="1371600"/>
          </a:xfrm>
          <a:prstGeom xmlns:a="http://schemas.openxmlformats.org/drawingml/2006/main" prst="roundRect">
            <a:avLst>
              <a:gd name="adj" fmla="val 8000"/>
            </a:avLst>
          </a:prstGeom>
          <a:solidFill xmlns:a="http://schemas.openxmlformats.org/drawingml/2006/main">
            <a:srgbClr val="FFFFFF">
              <a:alpha val="5882"/>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2" name="Google Shape;22;p3">
            <a:extLst xmlns:a="http://schemas.openxmlformats.org/drawingml/2006/main">
              <a:ext uri="{FF2B5EF4-FFF2-40B4-BE49-F238E27FC236}">
                <a16:creationId xmlns:a16="http://schemas.microsoft.com/office/drawing/2014/main" id="{CA05DBB3-3CF7-4E75-8BA0-595E6D800A21}"/>
              </a:ext>
            </a:extLst>
          </p:cNvPr>
          <p:cNvSpPr>
            <a:spLocks xmlns:a="http://schemas.openxmlformats.org/drawingml/2006/main" noGrp="1"/>
          </p:cNvSpPr>
          <p:nvPr/>
        </p:nvSpPr>
        <p:spPr>
          <a:xfrm xmlns:a="http://schemas.openxmlformats.org/drawingml/2006/main">
            <a:off x="1463040" y="3200400"/>
            <a:ext cx="9262872"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3200"/>
              <a:buFont typeface="Cambria"/>
              <a:buNone/>
            </a:pPr>
            <a:r>
              <a:rPr sz="2600" b="1" i="0" u="none" strike="noStrike" cap="none">
                <a:solidFill>
                  <a:srgbClr val="FFFFFF"/>
                </a:solidFill>
                <a:latin typeface="Cambria"/>
                <a:ea typeface="Cambria"/>
                <a:cs typeface="Cambria"/>
              </a:rPr>
              <a:t>INSURANCE CHARGE PREDICTOR</a:t>
            </a:r>
            <a:endParaRPr/>
          </a:p>
          <a:p xmlns:a="http://schemas.openxmlformats.org/drawingml/2006/main">
            <a:pPr marL="0" marR="0" lvl="0" indent="0" algn="ctr">
              <a:lnSpc>
                <a:spcPct val="100000"/>
              </a:lnSpc>
              <a:spcBef>
                <a:spcPts val="400"/>
              </a:spcBef>
              <a:spcAft>
                <a:spcPts val="0"/>
              </a:spcAft>
              <a:buClr>
                <a:srgbClr val="FFFFFF"/>
              </a:buClr>
              <a:buSzPts val="3200"/>
              <a:buFont typeface="Cambria"/>
              <a:buNone/>
            </a:pPr>
            <a:r>
              <a:rPr sz="1600" b="0" i="0" u="none" strike="noStrike" cap="none">
                <a:solidFill>
                  <a:srgbClr val="DCE6F2"/>
                </a:solidFill>
                <a:latin typeface="Calibri"/>
                <a:ea typeface="Calibri"/>
                <a:cs typeface="Calibri"/>
              </a:rPr>
              <a:t>at  </a:t>
            </a:r>
            <a:r>
              <a:rPr sz="1600" b="0" i="0" u="none" strike="noStrike" cap="none">
                <a:solidFill>
                  <a:srgbClr val="DCE6F2"/>
                </a:solidFill>
                <a:latin typeface="Calibri"/>
                <a:ea typeface="Calibri"/>
                <a:cs typeface="Calibri"/>
              </a:rPr>
              <a:t>[Organisation name, city]</a:t>
            </a:r>
            <a:endParaRPr/>
          </a:p>
          <a:p xmlns:a="http://schemas.openxmlformats.org/drawingml/2006/main">
            <a:pPr marL="0" marR="0" lvl="0" indent="0" algn="ctr">
              <a:lnSpc>
                <a:spcPct val="100000"/>
              </a:lnSpc>
              <a:spcBef>
                <a:spcPts val="800"/>
              </a:spcBef>
              <a:spcAft>
                <a:spcPts val="0"/>
              </a:spcAft>
              <a:buClr>
                <a:srgbClr val="FFFFFF"/>
              </a:buClr>
              <a:buSzPts val="3200"/>
              <a:buFont typeface="Cambria"/>
              <a:buNone/>
            </a:pPr>
            <a:r>
              <a:rPr sz="1400" b="1" i="0" u="none" strike="noStrike" cap="none">
                <a:solidFill>
                  <a:srgbClr val="9FD3E6"/>
                </a:solidFill>
                <a:latin typeface="Calibri"/>
                <a:ea typeface="Calibri"/>
                <a:cs typeface="Calibri"/>
              </a:rPr>
              <a:t>Duration: </a:t>
            </a:r>
            <a:r>
              <a:rPr sz="1400" b="1" i="0" u="none" strike="noStrike" cap="none">
                <a:solidFill>
                  <a:srgbClr val="FFFFFF"/>
                </a:solidFill>
                <a:latin typeface="Calibri"/>
                <a:ea typeface="Calibri"/>
                <a:cs typeface="Calibri"/>
              </a:rPr>
              <a:t>[Duration]</a:t>
            </a:r>
            <a:r>
              <a:rPr sz="1400" b="1" i="0" u="none" strike="noStrike" cap="none">
                <a:solidFill>
                  <a:srgbClr val="9FD3E6"/>
                </a:solidFill>
                <a:latin typeface="Calibri"/>
                <a:ea typeface="Calibri"/>
                <a:cs typeface="Calibri"/>
              </a:rPr>
              <a:t>     From: </a:t>
            </a:r>
            <a:r>
              <a:rPr sz="1400" b="1" i="0" u="none" strike="noStrike" cap="none">
                <a:solidFill>
                  <a:srgbClr val="FFFFFF"/>
                </a:solidFill>
                <a:latin typeface="Calibri"/>
                <a:ea typeface="Calibri"/>
                <a:cs typeface="Calibri"/>
              </a:rPr>
              <a:t>[ DD/MM/YYYY ]</a:t>
            </a:r>
            <a:r>
              <a:rPr sz="1400" b="1" i="0" u="none" strike="noStrike" cap="none">
                <a:solidFill>
                  <a:srgbClr val="9FD3E6"/>
                </a:solidFill>
                <a:latin typeface="Calibri"/>
                <a:ea typeface="Calibri"/>
                <a:cs typeface="Calibri"/>
              </a:rPr>
              <a:t>     To: </a:t>
            </a:r>
            <a:r>
              <a:rPr sz="1400" b="1" i="0" u="none" strike="noStrike" cap="none">
                <a:solidFill>
                  <a:srgbClr val="FFFFFF"/>
                </a:solidFill>
                <a:latin typeface="Calibri"/>
                <a:ea typeface="Calibri"/>
                <a:cs typeface="Calibri"/>
              </a:rPr>
              <a:t>[ DD/MM/YYYY ]</a:t>
            </a:r>
            <a:endParaRPr/>
          </a:p>
        </p:txBody>
      </p:sp>
      <p:sp>
        <p:nvSpPr>
          <p:cNvPr id="23" name="Google Shape;23;p3">
            <a:extLst xmlns:a="http://schemas.openxmlformats.org/drawingml/2006/main">
              <a:ext uri="{FF2B5EF4-FFF2-40B4-BE49-F238E27FC236}">
                <a16:creationId xmlns:a16="http://schemas.microsoft.com/office/drawing/2014/main" id="{310D9EC8-5ADA-472A-B679-C5E15B4CB7A7}"/>
              </a:ext>
            </a:extLst>
          </p:cNvPr>
          <p:cNvSpPr>
            <a:spLocks xmlns:a="http://schemas.openxmlformats.org/drawingml/2006/main" noGrp="1"/>
          </p:cNvSpPr>
          <p:nvPr/>
        </p:nvSpPr>
        <p:spPr>
          <a:xfrm xmlns:a="http://schemas.openxmlformats.org/drawingml/2006/main">
            <a:off x="914400" y="4709160"/>
            <a:ext cx="10360152"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FE3EE"/>
              </a:buClr>
              <a:buSzPts val="1300"/>
              <a:buFont typeface="Calibri"/>
              <a:buNone/>
            </a:pPr>
            <a:r>
              <a:rPr sz="1500" i="1">
                <a:solidFill>
                  <a:srgbClr val="CFE3EE"/>
                </a:solidFill>
                <a:latin typeface="Calibri"/>
                <a:ea typeface="Calibri"/>
                <a:cs typeface="Calibri"/>
              </a:rPr>
              <a:t>                                                                              </a:t>
            </a:r>
            <a:r>
              <a:rPr sz="1500" b="0" i="1" u="none" strike="noStrike" cap="none">
                <a:solidFill>
                  <a:srgbClr val="CFE3EE"/>
                </a:solidFill>
                <a:latin typeface="Calibri"/>
                <a:ea typeface="Calibri"/>
                <a:cs typeface="Calibri"/>
              </a:rPr>
              <a:t>Internship Presentation  |  Session 2026–27</a:t>
            </a:r>
            <a:endParaRPr sz="1500" b="0" i="0" u="none" strike="noStrike" cap="none">
              <a:solidFill>
                <a:schemeClr val="dk1"/>
              </a:solidFill>
              <a:latin typeface="Calibri"/>
              <a:ea typeface="Calibri"/>
              <a:cs typeface="Calibri"/>
            </a:endParaRPr>
          </a:p>
        </p:txBody>
      </p:sp>
      <p:cxnSp>
        <p:nvCxnSpPr>
          <p:cNvPr id="24" name="Google Shape;24;p3">
            <a:extLst xmlns:a="http://schemas.openxmlformats.org/drawingml/2006/main">
              <a:ext uri="{FF2B5EF4-FFF2-40B4-BE49-F238E27FC236}">
                <a16:creationId xmlns:a16="http://schemas.microsoft.com/office/drawing/2014/main" id="{CD3CA79F-3D2B-4A84-9BC1-D7C80F289B14}"/>
              </a:ext>
            </a:extLst>
          </p:cNvPr>
          <p:cNvCxnSpPr/>
          <p:nvPr/>
        </p:nvCxnSpPr>
        <p:spPr>
          <a:xfrm xmlns:a="http://schemas.openxmlformats.org/drawingml/2006/main">
            <a:off x="6094476" y="5257800"/>
            <a:ext cx="0" cy="1188720"/>
          </a:xfrm>
          <a:prstGeom xmlns:a="http://schemas.openxmlformats.org/drawingml/2006/main" prst="straightConnector1">
            <a:avLst/>
          </a:prstGeom>
          <a:ln xmlns:a="http://schemas.openxmlformats.org/drawingml/2006/main" w="9525" cap="flat">
            <a:solidFill>
              <a:srgbClr val="FFFFFF">
                <a:alpha val="30196"/>
              </a:srgbClr>
            </a:solidFill>
            <a:prstDash val="solid"/>
            <a:round/>
            <a:headEnd type="none" w="sm" len="sm"/>
            <a:tailEnd type="none" w="sm" len="sm"/>
          </a:ln>
        </p:spPr>
      </p:cxnSp>
      <p:sp>
        <p:nvSpPr>
          <p:cNvPr id="25" name="Google Shape;25;p3">
            <a:extLst xmlns:a="http://schemas.openxmlformats.org/drawingml/2006/main">
              <a:ext uri="{FF2B5EF4-FFF2-40B4-BE49-F238E27FC236}">
                <a16:creationId xmlns:a16="http://schemas.microsoft.com/office/drawing/2014/main" id="{EA3C993B-9370-4E17-B736-9603011D64FA}"/>
              </a:ext>
            </a:extLst>
          </p:cNvPr>
          <p:cNvSpPr>
            <a:spLocks xmlns:a="http://schemas.openxmlformats.org/drawingml/2006/main" noGrp="1"/>
          </p:cNvSpPr>
          <p:nvPr/>
        </p:nvSpPr>
        <p:spPr>
          <a:xfrm xmlns:a="http://schemas.openxmlformats.org/drawingml/2006/main">
            <a:off x="914400" y="5303520"/>
            <a:ext cx="4114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FB6CE"/>
              </a:buClr>
              <a:buSzPts val="1050"/>
              <a:buFont typeface="Calibri"/>
              <a:buNone/>
            </a:pPr>
            <a:r>
              <a:rPr sz="1150" b="1" i="0" u="none" strike="noStrike" cap="none">
                <a:solidFill>
                  <a:srgbClr val="6FB6CE"/>
                </a:solidFill>
                <a:latin typeface="Calibri"/>
                <a:ea typeface="Calibri"/>
                <a:cs typeface="Calibri"/>
              </a:rPr>
              <a:t>FACULTY MENTOR</a:t>
            </a:r>
            <a:endParaRPr sz="1250" b="0" i="0" u="none" strike="noStrike" cap="none">
              <a:solidFill>
                <a:schemeClr val="dk1"/>
              </a:solidFill>
              <a:latin typeface="Calibri"/>
              <a:ea typeface="Calibri"/>
              <a:cs typeface="Calibri"/>
            </a:endParaRPr>
          </a:p>
        </p:txBody>
      </p:sp>
      <p:sp>
        <p:nvSpPr>
          <p:cNvPr id="26" name="Google Shape;26;p3">
            <a:extLst xmlns:a="http://schemas.openxmlformats.org/drawingml/2006/main">
              <a:ext uri="{FF2B5EF4-FFF2-40B4-BE49-F238E27FC236}">
                <a16:creationId xmlns:a16="http://schemas.microsoft.com/office/drawing/2014/main" id="{AD0E0D6F-0292-4694-8F23-45F888BBC74D}"/>
              </a:ext>
            </a:extLst>
          </p:cNvPr>
          <p:cNvSpPr>
            <a:spLocks xmlns:a="http://schemas.openxmlformats.org/drawingml/2006/main" noGrp="1"/>
          </p:cNvSpPr>
          <p:nvPr/>
        </p:nvSpPr>
        <p:spPr>
          <a:xfrm xmlns:a="http://schemas.openxmlformats.org/drawingml/2006/main">
            <a:off x="914400" y="5577840"/>
            <a:ext cx="4480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
              <a:buFont typeface="Calibri"/>
              <a:buNone/>
            </a:pPr>
            <a:r>
              <a:rPr sz="1400" b="1" i="0" u="none" strike="noStrike" cap="none">
                <a:solidFill>
                  <a:srgbClr val="FFFFFF"/>
                </a:solidFill>
                <a:latin typeface="Calibri"/>
                <a:ea typeface="Calibri"/>
                <a:cs typeface="Calibri"/>
              </a:rPr>
              <a:t>[ Name of Faculty Mentor ]</a:t>
            </a:r>
            <a:endParaRPr sz="1400" b="0" i="0" u="none" strike="noStrike" cap="none">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9F6CD775-948D-428D-B5B4-56171F4B421D}"/>
              </a:ext>
            </a:extLst>
          </p:cNvPr>
          <p:cNvSpPr>
            <a:spLocks xmlns:a="http://schemas.openxmlformats.org/drawingml/2006/main" noGrp="1"/>
          </p:cNvSpPr>
          <p:nvPr/>
        </p:nvSpPr>
        <p:spPr>
          <a:xfrm xmlns:a="http://schemas.openxmlformats.org/drawingml/2006/main">
            <a:off x="914400" y="5989320"/>
            <a:ext cx="44805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FE3EE"/>
              </a:buClr>
              <a:buSzPts val="1100"/>
              <a:buFont typeface="Calibri"/>
              <a:buNone/>
            </a:pPr>
            <a:r>
              <a:rPr sz="1200" b="0" i="0" u="none" strike="noStrike" cap="none">
                <a:solidFill>
                  <a:srgbClr val="CFE3EE"/>
                </a:solidFill>
                <a:latin typeface="Calibri"/>
                <a:ea typeface="Calibri"/>
                <a:cs typeface="Calibri"/>
              </a:rPr>
              <a:t>[ Designation, Department of CSE ]</a:t>
            </a:r>
            <a:endParaRPr sz="1200" b="0" i="0" u="none" strike="noStrike" cap="none">
              <a:solidFill>
                <a:schemeClr val="dk1"/>
              </a:solidFill>
              <a:latin typeface="Calibri"/>
              <a:ea typeface="Calibri"/>
              <a:cs typeface="Calibri"/>
            </a:endParaRPr>
          </a:p>
        </p:txBody>
      </p:sp>
      <p:sp>
        <p:nvSpPr>
          <p:cNvPr id="28" name="Google Shape;28;p3">
            <a:extLst xmlns:a="http://schemas.openxmlformats.org/drawingml/2006/main">
              <a:ext uri="{FF2B5EF4-FFF2-40B4-BE49-F238E27FC236}">
                <a16:creationId xmlns:a16="http://schemas.microsoft.com/office/drawing/2014/main" id="{8938370F-A633-414D-8076-F152D3F77403}"/>
              </a:ext>
            </a:extLst>
          </p:cNvPr>
          <p:cNvSpPr>
            <a:spLocks xmlns:a="http://schemas.openxmlformats.org/drawingml/2006/main" noGrp="1"/>
          </p:cNvSpPr>
          <p:nvPr/>
        </p:nvSpPr>
        <p:spPr>
          <a:xfrm xmlns:a="http://schemas.openxmlformats.org/drawingml/2006/main">
            <a:off x="8229725" y="5303525"/>
            <a:ext cx="31089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FB6CE"/>
              </a:buClr>
              <a:buSzPts val="1050"/>
              <a:buFont typeface="Calibri"/>
              <a:buNone/>
            </a:pPr>
            <a:r>
              <a:rPr sz="1250" b="1" i="0" u="none" strike="noStrike" cap="none">
                <a:solidFill>
                  <a:srgbClr val="6FB6CE"/>
                </a:solidFill>
                <a:latin typeface="Calibri"/>
                <a:ea typeface="Calibri"/>
                <a:cs typeface="Calibri"/>
              </a:rPr>
              <a:t>   SUBMITTED BY</a:t>
            </a:r>
            <a:endParaRPr sz="1250" b="0" i="0" u="none" strike="noStrike" cap="none">
              <a:solidFill>
                <a:schemeClr val="dk1"/>
              </a:solidFill>
              <a:latin typeface="Calibri"/>
              <a:ea typeface="Calibri"/>
              <a:cs typeface="Calibri"/>
            </a:endParaRPr>
          </a:p>
        </p:txBody>
      </p:sp>
      <p:sp>
        <p:nvSpPr>
          <p:cNvPr id="29" name="Google Shape;29;p3">
            <a:extLst xmlns:a="http://schemas.openxmlformats.org/drawingml/2006/main">
              <a:ext uri="{FF2B5EF4-FFF2-40B4-BE49-F238E27FC236}">
                <a16:creationId xmlns:a16="http://schemas.microsoft.com/office/drawing/2014/main" id="{EDB51E61-9151-413F-87A7-A751B212C86F}"/>
              </a:ext>
            </a:extLst>
          </p:cNvPr>
          <p:cNvSpPr>
            <a:spLocks xmlns:a="http://schemas.openxmlformats.org/drawingml/2006/main" noGrp="1"/>
          </p:cNvSpPr>
          <p:nvPr/>
        </p:nvSpPr>
        <p:spPr>
          <a:xfrm xmlns:a="http://schemas.openxmlformats.org/drawingml/2006/main">
            <a:off x="8229500" y="5577850"/>
            <a:ext cx="3108900" cy="100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lgn="l">
              <a:defRPr sz="1250">
                <a:solidFill>
                  <a:srgbClr val="FFFFFF"/>
                </a:solidFill>
                <a:latin typeface="Calibri"/>
                <a:ea typeface="Calibri"/>
                <a:cs typeface="Calibri"/>
              </a:defRPr>
            </a:defPPr>
            <a:lvl1pPr algn="l">
              <a:defRPr sz="1250">
                <a:solidFill>
                  <a:srgbClr val="FFFFFF"/>
                </a:solidFill>
                <a:latin typeface="Calibri"/>
                <a:ea typeface="Calibri"/>
                <a:cs typeface="Calibri"/>
              </a:defRPr>
            </a:lvl1pPr>
            <a:lvl2pPr algn="l">
              <a:defRPr sz="1250">
                <a:solidFill>
                  <a:srgbClr val="FFFFFF"/>
                </a:solidFill>
                <a:latin typeface="Calibri"/>
                <a:ea typeface="Calibri"/>
                <a:cs typeface="Calibri"/>
              </a:defRPr>
            </a:lvl2pPr>
            <a:lvl3pPr algn="l">
              <a:defRPr sz="1250">
                <a:solidFill>
                  <a:srgbClr val="FFFFFF"/>
                </a:solidFill>
                <a:latin typeface="Calibri"/>
                <a:ea typeface="Calibri"/>
                <a:cs typeface="Calibri"/>
              </a:defRPr>
            </a:lvl3pPr>
            <a:lvl4pPr algn="l">
              <a:defRPr sz="1250">
                <a:solidFill>
                  <a:srgbClr val="FFFFFF"/>
                </a:solidFill>
                <a:latin typeface="Calibri"/>
                <a:ea typeface="Calibri"/>
                <a:cs typeface="Calibri"/>
              </a:defRPr>
            </a:lvl4pPr>
            <a:lvl5pPr algn="l">
              <a:defRPr sz="1250">
                <a:solidFill>
                  <a:srgbClr val="FFFFFF"/>
                </a:solidFill>
                <a:latin typeface="Calibri"/>
                <a:ea typeface="Calibri"/>
                <a:cs typeface="Calibri"/>
              </a:defRPr>
            </a:lvl5pPr>
            <a:lvl6pPr algn="l">
              <a:defRPr sz="1250">
                <a:solidFill>
                  <a:srgbClr val="FFFFFF"/>
                </a:solidFill>
                <a:latin typeface="Calibri"/>
                <a:ea typeface="Calibri"/>
                <a:cs typeface="Calibri"/>
              </a:defRPr>
            </a:lvl6pPr>
            <a:lvl7pPr algn="l">
              <a:defRPr sz="1250">
                <a:solidFill>
                  <a:srgbClr val="FFFFFF"/>
                </a:solidFill>
                <a:latin typeface="Calibri"/>
                <a:ea typeface="Calibri"/>
                <a:cs typeface="Calibri"/>
              </a:defRPr>
            </a:lvl7pPr>
            <a:lvl8pPr algn="l">
              <a:defRPr sz="1250">
                <a:solidFill>
                  <a:srgbClr val="FFFFFF"/>
                </a:solidFill>
                <a:latin typeface="Calibri"/>
                <a:ea typeface="Calibri"/>
                <a:cs typeface="Calibri"/>
              </a:defRPr>
            </a:lvl8pPr>
            <a:lvl9pPr algn="l">
              <a:defRPr sz="1250">
                <a:solidFill>
                  <a:srgbClr val="FFFFFF"/>
                </a:solidFill>
                <a:latin typeface="Calibri"/>
                <a:ea typeface="Calibri"/>
                <a:cs typeface="Calibri"/>
              </a:defRPr>
            </a:lvl9pPr>
          </a:lstStyle>
          <a:p xmlns:a="http://schemas.openxmlformats.org/drawingml/2006/main">
            <a:pPr marL="0" marR="0" lvl="0" indent="0" algn="l">
              <a:lnSpc>
                <a:spcPct val="135000"/>
              </a:lnSpc>
              <a:spcBef>
                <a:spcPts val="0"/>
              </a:spcBef>
              <a:spcAft>
                <a:spcPts val="0"/>
              </a:spcAft>
              <a:buClr>
                <a:srgbClr val="FFFFFF"/>
              </a:buClr>
              <a:buSzPts val="1150"/>
              <a:buFont typeface="Calibri"/>
              <a:buNone/>
              <a:defRPr sz="1250">
                <a:solidFill>
                  <a:srgbClr val="FFFFFF"/>
                </a:solidFill>
                <a:latin typeface="Calibri"/>
                <a:ea typeface="Calibri"/>
                <a:cs typeface="Calibri"/>
              </a:defRPr>
            </a:pPr>
            <a:r>
              <a:rPr sz="1250" b="0" i="0" u="none" strike="noStrike" cap="none">
                <a:solidFill>
                  <a:srgbClr val="FFFFFF"/>
                </a:solidFill>
                <a:latin typeface="Calibri"/>
                <a:ea typeface="Calibri"/>
                <a:cs typeface="Calibri"/>
              </a:rPr>
              <a:t>Gurmeet Singh</a:t>
            </a:r>
            <a:endParaRPr sz="1250" b="0" i="0" u="none" strike="noStrike" cap="none">
              <a:solidFill>
                <a:schemeClr val="dk1"/>
              </a:solidFill>
              <a:latin typeface="Calibri"/>
              <a:ea typeface="Calibri"/>
              <a:cs typeface="Calibri"/>
            </a:endParaRPr>
          </a:p>
          <a:p xmlns:a="http://schemas.openxmlformats.org/drawingml/2006/main">
            <a:pPr marL="0" marR="0" lvl="0" indent="0" algn="l">
              <a:lnSpc>
                <a:spcPct val="135000"/>
              </a:lnSpc>
              <a:spcBef>
                <a:spcPts val="0"/>
              </a:spcBef>
              <a:spcAft>
                <a:spcPts val="0"/>
              </a:spcAft>
              <a:buClr>
                <a:srgbClr val="FFFFFF"/>
              </a:buClr>
              <a:buSzPts val="1150"/>
              <a:buFont typeface="Calibri"/>
              <a:buNone/>
              <a:defRPr sz="1250">
                <a:solidFill>
                  <a:srgbClr val="FFFFFF"/>
                </a:solidFill>
                <a:latin typeface="Calibri"/>
                <a:ea typeface="Calibri"/>
                <a:cs typeface="Calibri"/>
              </a:defRPr>
            </a:pPr>
            <a:r>
              <a:rPr sz="1250">
                <a:solidFill>
                  <a:srgbClr val="FFFFFF"/>
                </a:solidFill>
                <a:latin typeface="Calibri"/>
                <a:ea typeface="Calibri"/>
                <a:cs typeface="Calibri"/>
              </a:rPr>
              <a:t>Roll No. 2301531530027</a:t>
            </a:r>
            <a:endParaRPr sz="1250" b="0" i="0" u="none" strike="noStrike" cap="none">
              <a:solidFill>
                <a:schemeClr val="dk1"/>
              </a:solidFill>
              <a:latin typeface="Calibri"/>
              <a:ea typeface="Calibri"/>
              <a:cs typeface="Calibri"/>
            </a:endParaRPr>
          </a:p>
          <a:p xmlns:a="http://schemas.openxmlformats.org/drawingml/2006/main">
            <a:pPr marL="0" marR="0" lvl="0" indent="0" algn="l">
              <a:lnSpc>
                <a:spcPct val="135000"/>
              </a:lnSpc>
              <a:spcBef>
                <a:spcPts val="0"/>
              </a:spcBef>
              <a:spcAft>
                <a:spcPts val="0"/>
              </a:spcAft>
              <a:buClr>
                <a:srgbClr val="FFFFFF"/>
              </a:buClr>
              <a:buSzPts val="1150"/>
              <a:buFont typeface="Calibri"/>
              <a:buNone/>
              <a:defRPr sz="1250">
                <a:solidFill>
                  <a:srgbClr val="FFFFFF"/>
                </a:solidFill>
                <a:latin typeface="Calibri"/>
                <a:ea typeface="Calibri"/>
                <a:cs typeface="Calibri"/>
              </a:defRPr>
            </a:pPr>
            <a:r>
              <a:rPr sz="1250">
                <a:solidFill>
                  <a:srgbClr val="FFFFFF"/>
                </a:solidFill>
                <a:latin typeface="Calibri"/>
                <a:ea typeface="Calibri"/>
                <a:cs typeface="Calibri"/>
              </a:rPr>
              <a:t>CSE (AIML), Year IV, Section D</a:t>
            </a:r>
            <a:endParaRPr sz="1250" b="0" i="0" u="none" strike="noStrike" cap="none">
              <a:solidFill>
                <a:schemeClr val="dk1"/>
              </a:solidFill>
              <a:latin typeface="Calibri"/>
              <a:ea typeface="Calibri"/>
              <a:cs typeface="Calibri"/>
            </a:endParaRPr>
          </a:p>
        </p:txBody>
      </p:sp>
      <p:pic>
        <p:nvPicPr>
          <p:cNvPr id="30" name="Google Shape;30;p3">
            <a:extLst xmlns:a="http://schemas.openxmlformats.org/drawingml/2006/main">
              <a:ext uri="{FF2B5EF4-FFF2-40B4-BE49-F238E27FC236}">
                <a16:creationId xmlns:a16="http://schemas.microsoft.com/office/drawing/2014/main" id="{09EB9DF5-88BB-4396-98C1-6CE7B4FB433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96bccbbe894212">
            <a:alphaModFix/>
          </a:blip>
          <a:srcRect xmlns:a="http://schemas.openxmlformats.org/drawingml/2006/main" l="0" t="0" r="0" b="0"/>
          <a:stretch xmlns:a="http://schemas.openxmlformats.org/drawingml/2006/main"/>
        </p:blipFill>
        <p:spPr>
          <a:xfrm xmlns:a="http://schemas.openxmlformats.org/drawingml/2006/main">
            <a:off x="5591563" y="424800"/>
            <a:ext cx="1005835" cy="9986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78165142"/>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36" name="Google Shape;36;p4">
            <a:extLst xmlns:a="http://schemas.openxmlformats.org/drawingml/2006/main">
              <a:ext uri="{FF2B5EF4-FFF2-40B4-BE49-F238E27FC236}">
                <a16:creationId xmlns:a16="http://schemas.microsoft.com/office/drawing/2014/main" id="{8BC6C19A-DB44-4A6B-840C-2D43FE805016}"/>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7" name="Google Shape;37;p4">
            <a:extLst xmlns:a="http://schemas.openxmlformats.org/drawingml/2006/main">
              <a:ext uri="{FF2B5EF4-FFF2-40B4-BE49-F238E27FC236}">
                <a16:creationId xmlns:a16="http://schemas.microsoft.com/office/drawing/2014/main" id="{3555976C-6F95-40B0-829A-AF9C41E755B5}"/>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 name="Google Shape;38;p4">
            <a:extLst xmlns:a="http://schemas.openxmlformats.org/drawingml/2006/main">
              <a:ext uri="{FF2B5EF4-FFF2-40B4-BE49-F238E27FC236}">
                <a16:creationId xmlns:a16="http://schemas.microsoft.com/office/drawing/2014/main" id="{B9BAEBB8-BE31-48D1-9E8E-B1B8B2EA723A}"/>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9" name="Google Shape;39;p4">
            <a:extLst xmlns:a="http://schemas.openxmlformats.org/drawingml/2006/main">
              <a:ext uri="{FF2B5EF4-FFF2-40B4-BE49-F238E27FC236}">
                <a16:creationId xmlns:a16="http://schemas.microsoft.com/office/drawing/2014/main" id="{66092857-318A-4197-88C1-EE477B4E0003}"/>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strike="noStrike" cap="none">
                <a:solidFill>
                  <a:srgbClr val="FFFFFF"/>
                </a:solidFill>
                <a:latin typeface="Calibri"/>
                <a:ea typeface="Calibri"/>
                <a:cs typeface="Calibri"/>
              </a:rPr>
              <a:t>01</a:t>
            </a:r>
            <a:endParaRPr sz="1600" b="0" i="0" u="none" strike="noStrike" cap="none">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614A4BC4-F4A7-4B96-9F3E-10DE1885394B}"/>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strike="noStrike" cap="none">
                <a:solidFill>
                  <a:srgbClr val="1C7293"/>
                </a:solidFill>
                <a:latin typeface="Calibri"/>
                <a:ea typeface="Calibri"/>
                <a:cs typeface="Calibri"/>
              </a:rPr>
              <a:t>OVERVIEW</a:t>
            </a:r>
            <a:endParaRPr sz="1100" b="0" i="0" u="none" strike="noStrike" cap="none">
              <a:solidFill>
                <a:schemeClr val="dk1"/>
              </a:solidFill>
              <a:latin typeface="Calibri"/>
              <a:ea typeface="Calibri"/>
              <a:cs typeface="Calibri"/>
            </a:endParaRPr>
          </a:p>
        </p:txBody>
      </p:sp>
      <p:sp>
        <p:nvSpPr>
          <p:cNvPr id="41" name="Google Shape;41;p4">
            <a:extLst xmlns:a="http://schemas.openxmlformats.org/drawingml/2006/main">
              <a:ext uri="{FF2B5EF4-FFF2-40B4-BE49-F238E27FC236}">
                <a16:creationId xmlns:a16="http://schemas.microsoft.com/office/drawing/2014/main" id="{81916553-263D-401A-A830-8957999EE9DE}"/>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strike="noStrike" cap="none">
                <a:solidFill>
                  <a:srgbClr val="21295C"/>
                </a:solidFill>
                <a:latin typeface="Cambria"/>
                <a:ea typeface="Cambria"/>
                <a:cs typeface="Cambria"/>
              </a:rPr>
              <a:t>Presentation Agenda</a:t>
            </a:r>
            <a:endParaRPr sz="3000" b="0" i="0" u="none" strike="noStrike" cap="none">
              <a:solidFill>
                <a:schemeClr val="dk1"/>
              </a:solidFill>
              <a:latin typeface="Calibri"/>
              <a:ea typeface="Calibri"/>
              <a:cs typeface="Calibri"/>
            </a:endParaRPr>
          </a:p>
        </p:txBody>
      </p:sp>
      <p:sp>
        <p:nvSpPr>
          <p:cNvPr id="42" name="Google Shape;42;p4">
            <a:extLst xmlns:a="http://schemas.openxmlformats.org/drawingml/2006/main">
              <a:ext uri="{FF2B5EF4-FFF2-40B4-BE49-F238E27FC236}">
                <a16:creationId xmlns:a16="http://schemas.microsoft.com/office/drawing/2014/main" id="{44BE47F7-210B-4C9D-BBFC-11030501BA99}"/>
              </a:ext>
            </a:extLst>
          </p:cNvPr>
          <p:cNvSpPr>
            <a:spLocks xmlns:a="http://schemas.openxmlformats.org/drawingml/2006/main" noGrp="1"/>
          </p:cNvSpPr>
          <p:nvPr/>
        </p:nvSpPr>
        <p:spPr>
          <a:xfrm xmlns:a="http://schemas.openxmlformats.org/drawingml/2006/main">
            <a:off x="914400" y="1600200"/>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3" name="Google Shape;43;p4">
            <a:extLst xmlns:a="http://schemas.openxmlformats.org/drawingml/2006/main">
              <a:ext uri="{FF2B5EF4-FFF2-40B4-BE49-F238E27FC236}">
                <a16:creationId xmlns:a16="http://schemas.microsoft.com/office/drawing/2014/main" id="{2DF5AF00-9B22-4CEF-BDEE-B4367EEF73EE}"/>
              </a:ext>
            </a:extLst>
          </p:cNvPr>
          <p:cNvSpPr>
            <a:spLocks xmlns:a="http://schemas.openxmlformats.org/drawingml/2006/main" noGrp="1"/>
          </p:cNvSpPr>
          <p:nvPr/>
        </p:nvSpPr>
        <p:spPr>
          <a:xfrm xmlns:a="http://schemas.openxmlformats.org/drawingml/2006/main">
            <a:off x="914400" y="1600200"/>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strike="noStrike" cap="none">
                <a:solidFill>
                  <a:srgbClr val="FFFFFF"/>
                </a:solidFill>
                <a:latin typeface="Calibri"/>
                <a:ea typeface="Calibri"/>
                <a:cs typeface="Calibri"/>
              </a:rPr>
              <a:t>1</a:t>
            </a:r>
            <a:endParaRPr sz="1400" b="0" i="0" u="none" strike="noStrike" cap="none">
              <a:solidFill>
                <a:schemeClr val="dk1"/>
              </a:solidFill>
              <a:latin typeface="Calibri"/>
              <a:ea typeface="Calibri"/>
              <a:cs typeface="Calibri"/>
            </a:endParaRPr>
          </a:p>
        </p:txBody>
      </p:sp>
      <p:sp>
        <p:nvSpPr>
          <p:cNvPr id="44" name="Google Shape;44;p4">
            <a:extLst xmlns:a="http://schemas.openxmlformats.org/drawingml/2006/main">
              <a:ext uri="{FF2B5EF4-FFF2-40B4-BE49-F238E27FC236}">
                <a16:creationId xmlns:a16="http://schemas.microsoft.com/office/drawing/2014/main" id="{9A7418A1-DE1D-45A7-B99E-D99A66CD8736}"/>
              </a:ext>
            </a:extLst>
          </p:cNvPr>
          <p:cNvSpPr>
            <a:spLocks xmlns:a="http://schemas.openxmlformats.org/drawingml/2006/main" noGrp="1"/>
          </p:cNvSpPr>
          <p:nvPr/>
        </p:nvSpPr>
        <p:spPr>
          <a:xfrm xmlns:a="http://schemas.openxmlformats.org/drawingml/2006/main">
            <a:off x="1536192" y="1581912"/>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strike="noStrike" cap="none">
                <a:solidFill>
                  <a:srgbClr val="1B1F3B"/>
                </a:solidFill>
                <a:latin typeface="Calibri"/>
                <a:ea typeface="Calibri"/>
                <a:cs typeface="Calibri"/>
              </a:rPr>
              <a:t>Internship Overview</a:t>
            </a:r>
            <a:endParaRPr sz="1600" b="0" i="0" u="none" strike="noStrike" cap="none">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7C3CC63B-7F50-4E24-ACE0-9625450916A4}"/>
              </a:ext>
            </a:extLst>
          </p:cNvPr>
          <p:cNvSpPr>
            <a:spLocks xmlns:a="http://schemas.openxmlformats.org/drawingml/2006/main" noGrp="1"/>
          </p:cNvSpPr>
          <p:nvPr/>
        </p:nvSpPr>
        <p:spPr>
          <a:xfrm xmlns:a="http://schemas.openxmlformats.org/drawingml/2006/main">
            <a:off x="914400" y="2258568"/>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 name="Google Shape;46;p4">
            <a:extLst xmlns:a="http://schemas.openxmlformats.org/drawingml/2006/main">
              <a:ext uri="{FF2B5EF4-FFF2-40B4-BE49-F238E27FC236}">
                <a16:creationId xmlns:a16="http://schemas.microsoft.com/office/drawing/2014/main" id="{7377B91D-40BB-4C18-B8D7-94971D2B372D}"/>
              </a:ext>
            </a:extLst>
          </p:cNvPr>
          <p:cNvSpPr>
            <a:spLocks xmlns:a="http://schemas.openxmlformats.org/drawingml/2006/main" noGrp="1"/>
          </p:cNvSpPr>
          <p:nvPr/>
        </p:nvSpPr>
        <p:spPr>
          <a:xfrm xmlns:a="http://schemas.openxmlformats.org/drawingml/2006/main">
            <a:off x="914400" y="2258568"/>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strike="noStrike" cap="none">
                <a:solidFill>
                  <a:srgbClr val="FFFFFF"/>
                </a:solidFill>
                <a:latin typeface="Calibri"/>
                <a:ea typeface="Calibri"/>
                <a:cs typeface="Calibri"/>
              </a:rPr>
              <a:t>2</a:t>
            </a:r>
            <a:endParaRPr sz="1400" b="0" i="0" u="none" strike="noStrike" cap="none">
              <a:solidFill>
                <a:schemeClr val="dk1"/>
              </a:solidFill>
              <a:latin typeface="Calibri"/>
              <a:ea typeface="Calibri"/>
              <a:cs typeface="Calibri"/>
            </a:endParaRPr>
          </a:p>
        </p:txBody>
      </p:sp>
      <p:sp>
        <p:nvSpPr>
          <p:cNvPr id="47" name="Google Shape;47;p4">
            <a:extLst xmlns:a="http://schemas.openxmlformats.org/drawingml/2006/main">
              <a:ext uri="{FF2B5EF4-FFF2-40B4-BE49-F238E27FC236}">
                <a16:creationId xmlns:a16="http://schemas.microsoft.com/office/drawing/2014/main" id="{36104813-DE08-4E2A-B696-A557F63C615B}"/>
              </a:ext>
            </a:extLst>
          </p:cNvPr>
          <p:cNvSpPr>
            <a:spLocks xmlns:a="http://schemas.openxmlformats.org/drawingml/2006/main" noGrp="1"/>
          </p:cNvSpPr>
          <p:nvPr/>
        </p:nvSpPr>
        <p:spPr>
          <a:xfrm xmlns:a="http://schemas.openxmlformats.org/drawingml/2006/main">
            <a:off x="1536192" y="2240280"/>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strike="noStrike" cap="none">
                <a:solidFill>
                  <a:srgbClr val="1B1F3B"/>
                </a:solidFill>
                <a:latin typeface="Calibri"/>
                <a:ea typeface="Calibri"/>
                <a:cs typeface="Calibri"/>
              </a:rPr>
              <a:t>Objectives of Internship</a:t>
            </a:r>
            <a:endParaRPr sz="1600" b="0" i="0" u="none" strike="noStrike" cap="none">
              <a:solidFill>
                <a:schemeClr val="dk1"/>
              </a:solidFill>
              <a:latin typeface="Calibri"/>
              <a:ea typeface="Calibri"/>
              <a:cs typeface="Calibri"/>
            </a:endParaRPr>
          </a:p>
        </p:txBody>
      </p:sp>
      <p:sp>
        <p:nvSpPr>
          <p:cNvPr id="48" name="Google Shape;48;p4">
            <a:extLst xmlns:a="http://schemas.openxmlformats.org/drawingml/2006/main">
              <a:ext uri="{FF2B5EF4-FFF2-40B4-BE49-F238E27FC236}">
                <a16:creationId xmlns:a16="http://schemas.microsoft.com/office/drawing/2014/main" id="{4DB57FA2-C7FA-44B4-A7F6-F0F7E1961D31}"/>
              </a:ext>
            </a:extLst>
          </p:cNvPr>
          <p:cNvSpPr>
            <a:spLocks xmlns:a="http://schemas.openxmlformats.org/drawingml/2006/main" noGrp="1"/>
          </p:cNvSpPr>
          <p:nvPr/>
        </p:nvSpPr>
        <p:spPr>
          <a:xfrm xmlns:a="http://schemas.openxmlformats.org/drawingml/2006/main">
            <a:off x="914400" y="2916936"/>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 name="Google Shape;49;p4">
            <a:extLst xmlns:a="http://schemas.openxmlformats.org/drawingml/2006/main">
              <a:ext uri="{FF2B5EF4-FFF2-40B4-BE49-F238E27FC236}">
                <a16:creationId xmlns:a16="http://schemas.microsoft.com/office/drawing/2014/main" id="{6DB59762-40EB-43F7-AF8B-8204EA841559}"/>
              </a:ext>
            </a:extLst>
          </p:cNvPr>
          <p:cNvSpPr>
            <a:spLocks xmlns:a="http://schemas.openxmlformats.org/drawingml/2006/main" noGrp="1"/>
          </p:cNvSpPr>
          <p:nvPr/>
        </p:nvSpPr>
        <p:spPr>
          <a:xfrm xmlns:a="http://schemas.openxmlformats.org/drawingml/2006/main">
            <a:off x="914400" y="2916936"/>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strike="noStrike" cap="none">
                <a:solidFill>
                  <a:srgbClr val="FFFFFF"/>
                </a:solidFill>
                <a:latin typeface="Calibri"/>
                <a:ea typeface="Calibri"/>
                <a:cs typeface="Calibri"/>
              </a:rPr>
              <a:t>3</a:t>
            </a:r>
            <a:endParaRPr sz="1400" b="0" i="0" u="none" strike="noStrike" cap="none">
              <a:solidFill>
                <a:schemeClr val="dk1"/>
              </a:solidFill>
              <a:latin typeface="Calibri"/>
              <a:ea typeface="Calibri"/>
              <a:cs typeface="Calibri"/>
            </a:endParaRPr>
          </a:p>
        </p:txBody>
      </p:sp>
      <p:sp>
        <p:nvSpPr>
          <p:cNvPr id="50" name="Google Shape;50;p4">
            <a:extLst xmlns:a="http://schemas.openxmlformats.org/drawingml/2006/main">
              <a:ext uri="{FF2B5EF4-FFF2-40B4-BE49-F238E27FC236}">
                <a16:creationId xmlns:a16="http://schemas.microsoft.com/office/drawing/2014/main" id="{FCD211D2-7D78-4984-9263-6AC486C53C06}"/>
              </a:ext>
            </a:extLst>
          </p:cNvPr>
          <p:cNvSpPr>
            <a:spLocks xmlns:a="http://schemas.openxmlformats.org/drawingml/2006/main" noGrp="1"/>
          </p:cNvSpPr>
          <p:nvPr/>
        </p:nvSpPr>
        <p:spPr>
          <a:xfrm xmlns:a="http://schemas.openxmlformats.org/drawingml/2006/main">
            <a:off x="1536192" y="2898648"/>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strike="noStrike" cap="none">
                <a:solidFill>
                  <a:srgbClr val="1B1F3B"/>
                </a:solidFill>
                <a:latin typeface="Calibri"/>
                <a:ea typeface="Calibri"/>
                <a:cs typeface="Calibri"/>
              </a:rPr>
              <a:t>Tools &amp; Technologies Used</a:t>
            </a:r>
            <a:endParaRPr sz="1600" b="0" i="0" u="none" strike="noStrike" cap="none">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41B95E31-0A73-43D0-8337-70278F1CCD80}"/>
              </a:ext>
            </a:extLst>
          </p:cNvPr>
          <p:cNvSpPr>
            <a:spLocks xmlns:a="http://schemas.openxmlformats.org/drawingml/2006/main" noGrp="1"/>
          </p:cNvSpPr>
          <p:nvPr/>
        </p:nvSpPr>
        <p:spPr>
          <a:xfrm xmlns:a="http://schemas.openxmlformats.org/drawingml/2006/main">
            <a:off x="914400" y="3575304"/>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2" name="Google Shape;52;p4">
            <a:extLst xmlns:a="http://schemas.openxmlformats.org/drawingml/2006/main">
              <a:ext uri="{FF2B5EF4-FFF2-40B4-BE49-F238E27FC236}">
                <a16:creationId xmlns:a16="http://schemas.microsoft.com/office/drawing/2014/main" id="{69086447-2BC0-46B8-B759-37C8CB826A87}"/>
              </a:ext>
            </a:extLst>
          </p:cNvPr>
          <p:cNvSpPr>
            <a:spLocks xmlns:a="http://schemas.openxmlformats.org/drawingml/2006/main" noGrp="1"/>
          </p:cNvSpPr>
          <p:nvPr/>
        </p:nvSpPr>
        <p:spPr>
          <a:xfrm xmlns:a="http://schemas.openxmlformats.org/drawingml/2006/main">
            <a:off x="914400" y="3575304"/>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strike="noStrike" cap="none">
                <a:solidFill>
                  <a:srgbClr val="FFFFFF"/>
                </a:solidFill>
                <a:latin typeface="Calibri"/>
                <a:ea typeface="Calibri"/>
                <a:cs typeface="Calibri"/>
              </a:rPr>
              <a:t>4</a:t>
            </a:r>
            <a:endParaRPr sz="1400" b="0" i="0" u="none" strike="noStrike" cap="none">
              <a:solidFill>
                <a:schemeClr val="dk1"/>
              </a:solidFill>
              <a:latin typeface="Calibri"/>
              <a:ea typeface="Calibri"/>
              <a:cs typeface="Calibri"/>
            </a:endParaRPr>
          </a:p>
        </p:txBody>
      </p:sp>
      <p:sp>
        <p:nvSpPr>
          <p:cNvPr id="53" name="Google Shape;53;p4">
            <a:extLst xmlns:a="http://schemas.openxmlformats.org/drawingml/2006/main">
              <a:ext uri="{FF2B5EF4-FFF2-40B4-BE49-F238E27FC236}">
                <a16:creationId xmlns:a16="http://schemas.microsoft.com/office/drawing/2014/main" id="{2D444AAE-425A-4F11-9E5F-AE6063745448}"/>
              </a:ext>
            </a:extLst>
          </p:cNvPr>
          <p:cNvSpPr>
            <a:spLocks xmlns:a="http://schemas.openxmlformats.org/drawingml/2006/main" noGrp="1"/>
          </p:cNvSpPr>
          <p:nvPr/>
        </p:nvSpPr>
        <p:spPr>
          <a:xfrm xmlns:a="http://schemas.openxmlformats.org/drawingml/2006/main">
            <a:off x="1536192" y="3557016"/>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strike="noStrike" cap="none">
                <a:solidFill>
                  <a:srgbClr val="1B1F3B"/>
                </a:solidFill>
                <a:latin typeface="Calibri"/>
                <a:ea typeface="Calibri"/>
                <a:cs typeface="Calibri"/>
              </a:rPr>
              <a:t>Weekly Work Log</a:t>
            </a:r>
            <a:endParaRPr sz="1600" b="0" i="0" u="none" strike="noStrike" cap="none">
              <a:solidFill>
                <a:schemeClr val="dk1"/>
              </a:solidFill>
              <a:latin typeface="Calibri"/>
              <a:ea typeface="Calibri"/>
              <a:cs typeface="Calibri"/>
            </a:endParaRPr>
          </a:p>
        </p:txBody>
      </p:sp>
      <p:sp>
        <p:nvSpPr>
          <p:cNvPr id="54" name="Google Shape;54;p4">
            <a:extLst xmlns:a="http://schemas.openxmlformats.org/drawingml/2006/main">
              <a:ext uri="{FF2B5EF4-FFF2-40B4-BE49-F238E27FC236}">
                <a16:creationId xmlns:a16="http://schemas.microsoft.com/office/drawing/2014/main" id="{0A093322-2414-45DD-AA19-EA20028316F9}"/>
              </a:ext>
            </a:extLst>
          </p:cNvPr>
          <p:cNvSpPr>
            <a:spLocks xmlns:a="http://schemas.openxmlformats.org/drawingml/2006/main" noGrp="1"/>
          </p:cNvSpPr>
          <p:nvPr/>
        </p:nvSpPr>
        <p:spPr>
          <a:xfrm xmlns:a="http://schemas.openxmlformats.org/drawingml/2006/main">
            <a:off x="6309360" y="1600200"/>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5" name="Google Shape;55;p4">
            <a:extLst xmlns:a="http://schemas.openxmlformats.org/drawingml/2006/main">
              <a:ext uri="{FF2B5EF4-FFF2-40B4-BE49-F238E27FC236}">
                <a16:creationId xmlns:a16="http://schemas.microsoft.com/office/drawing/2014/main" id="{1D4DA434-EC0D-4C89-B202-13E0259AF8F0}"/>
              </a:ext>
            </a:extLst>
          </p:cNvPr>
          <p:cNvSpPr>
            <a:spLocks xmlns:a="http://schemas.openxmlformats.org/drawingml/2006/main" noGrp="1"/>
          </p:cNvSpPr>
          <p:nvPr/>
        </p:nvSpPr>
        <p:spPr>
          <a:xfrm xmlns:a="http://schemas.openxmlformats.org/drawingml/2006/main">
            <a:off x="6309360" y="1600200"/>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strike="noStrike" cap="none">
                <a:solidFill>
                  <a:srgbClr val="FFFFFF"/>
                </a:solidFill>
                <a:latin typeface="Calibri"/>
                <a:ea typeface="Calibri"/>
                <a:cs typeface="Calibri"/>
              </a:rPr>
              <a:t>5</a:t>
            </a:r>
            <a:endParaRPr sz="1400" b="0" i="0" u="none" strike="noStrike" cap="none">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5D4445FB-87C9-43DD-92FF-D4ACBA062C20}"/>
              </a:ext>
            </a:extLst>
          </p:cNvPr>
          <p:cNvSpPr>
            <a:spLocks xmlns:a="http://schemas.openxmlformats.org/drawingml/2006/main" noGrp="1"/>
          </p:cNvSpPr>
          <p:nvPr/>
        </p:nvSpPr>
        <p:spPr>
          <a:xfrm xmlns:a="http://schemas.openxmlformats.org/drawingml/2006/main">
            <a:off x="6931152" y="1581912"/>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strike="noStrike" cap="none">
                <a:solidFill>
                  <a:srgbClr val="1B1F3B"/>
                </a:solidFill>
                <a:latin typeface="Calibri"/>
                <a:ea typeface="Calibri"/>
                <a:cs typeface="Calibri"/>
              </a:rPr>
              <a:t>Work Done &amp; Workflow</a:t>
            </a:r>
            <a:endParaRPr sz="1600" b="0" i="0" u="none" strike="noStrike" cap="none">
              <a:solidFill>
                <a:schemeClr val="dk1"/>
              </a:solidFill>
              <a:latin typeface="Calibri"/>
              <a:ea typeface="Calibri"/>
              <a:cs typeface="Calibri"/>
            </a:endParaRPr>
          </a:p>
        </p:txBody>
      </p:sp>
      <p:sp>
        <p:nvSpPr>
          <p:cNvPr id="57" name="Google Shape;57;p4">
            <a:extLst xmlns:a="http://schemas.openxmlformats.org/drawingml/2006/main">
              <a:ext uri="{FF2B5EF4-FFF2-40B4-BE49-F238E27FC236}">
                <a16:creationId xmlns:a16="http://schemas.microsoft.com/office/drawing/2014/main" id="{88D0AA81-AF32-446A-AEAC-DE4FC6F89329}"/>
              </a:ext>
            </a:extLst>
          </p:cNvPr>
          <p:cNvSpPr>
            <a:spLocks xmlns:a="http://schemas.openxmlformats.org/drawingml/2006/main" noGrp="1"/>
          </p:cNvSpPr>
          <p:nvPr/>
        </p:nvSpPr>
        <p:spPr>
          <a:xfrm xmlns:a="http://schemas.openxmlformats.org/drawingml/2006/main">
            <a:off x="6309360" y="2258568"/>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8" name="Google Shape;58;p4">
            <a:extLst xmlns:a="http://schemas.openxmlformats.org/drawingml/2006/main">
              <a:ext uri="{FF2B5EF4-FFF2-40B4-BE49-F238E27FC236}">
                <a16:creationId xmlns:a16="http://schemas.microsoft.com/office/drawing/2014/main" id="{70E3E5E1-9969-40E4-B74A-A0EE16C2493E}"/>
              </a:ext>
            </a:extLst>
          </p:cNvPr>
          <p:cNvSpPr>
            <a:spLocks xmlns:a="http://schemas.openxmlformats.org/drawingml/2006/main" noGrp="1"/>
          </p:cNvSpPr>
          <p:nvPr/>
        </p:nvSpPr>
        <p:spPr>
          <a:xfrm xmlns:a="http://schemas.openxmlformats.org/drawingml/2006/main">
            <a:off x="6309360" y="2258568"/>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strike="noStrike" cap="none">
                <a:solidFill>
                  <a:srgbClr val="FFFFFF"/>
                </a:solidFill>
                <a:latin typeface="Calibri"/>
                <a:ea typeface="Calibri"/>
                <a:cs typeface="Calibri"/>
              </a:rPr>
              <a:t>6</a:t>
            </a:r>
            <a:endParaRPr sz="1400" b="0" i="0" u="none" strike="noStrike" cap="none">
              <a:solidFill>
                <a:schemeClr val="dk1"/>
              </a:solidFill>
              <a:latin typeface="Calibri"/>
              <a:ea typeface="Calibri"/>
              <a:cs typeface="Calibri"/>
            </a:endParaRPr>
          </a:p>
        </p:txBody>
      </p:sp>
      <p:sp>
        <p:nvSpPr>
          <p:cNvPr id="59" name="Google Shape;59;p4">
            <a:extLst xmlns:a="http://schemas.openxmlformats.org/drawingml/2006/main">
              <a:ext uri="{FF2B5EF4-FFF2-40B4-BE49-F238E27FC236}">
                <a16:creationId xmlns:a16="http://schemas.microsoft.com/office/drawing/2014/main" id="{964F5C43-7D78-42A3-A04F-248B20F84DFA}"/>
              </a:ext>
            </a:extLst>
          </p:cNvPr>
          <p:cNvSpPr>
            <a:spLocks xmlns:a="http://schemas.openxmlformats.org/drawingml/2006/main" noGrp="1"/>
          </p:cNvSpPr>
          <p:nvPr/>
        </p:nvSpPr>
        <p:spPr>
          <a:xfrm xmlns:a="http://schemas.openxmlformats.org/drawingml/2006/main">
            <a:off x="6931152" y="2240280"/>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strike="noStrike" cap="none">
                <a:solidFill>
                  <a:srgbClr val="1B1F3B"/>
                </a:solidFill>
                <a:latin typeface="Calibri"/>
                <a:ea typeface="Calibri"/>
                <a:cs typeface="Calibri"/>
              </a:rPr>
              <a:t>Learning Outcomes</a:t>
            </a:r>
            <a:endParaRPr sz="1600" b="0" i="0" u="none" strike="noStrike" cap="none">
              <a:solidFill>
                <a:schemeClr val="dk1"/>
              </a:solidFill>
              <a:latin typeface="Calibri"/>
              <a:ea typeface="Calibri"/>
              <a:cs typeface="Calibri"/>
            </a:endParaRPr>
          </a:p>
        </p:txBody>
      </p:sp>
      <p:sp>
        <p:nvSpPr>
          <p:cNvPr id="60" name="Google Shape;60;p4">
            <a:extLst xmlns:a="http://schemas.openxmlformats.org/drawingml/2006/main">
              <a:ext uri="{FF2B5EF4-FFF2-40B4-BE49-F238E27FC236}">
                <a16:creationId xmlns:a16="http://schemas.microsoft.com/office/drawing/2014/main" id="{383B7A14-2917-4768-8BF1-93D55F8B4E47}"/>
              </a:ext>
            </a:extLst>
          </p:cNvPr>
          <p:cNvSpPr>
            <a:spLocks xmlns:a="http://schemas.openxmlformats.org/drawingml/2006/main" noGrp="1"/>
          </p:cNvSpPr>
          <p:nvPr/>
        </p:nvSpPr>
        <p:spPr>
          <a:xfrm xmlns:a="http://schemas.openxmlformats.org/drawingml/2006/main">
            <a:off x="6309360" y="2916936"/>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1" name="Google Shape;61;p4">
            <a:extLst xmlns:a="http://schemas.openxmlformats.org/drawingml/2006/main">
              <a:ext uri="{FF2B5EF4-FFF2-40B4-BE49-F238E27FC236}">
                <a16:creationId xmlns:a16="http://schemas.microsoft.com/office/drawing/2014/main" id="{CCD3E1E4-D945-487F-905B-90C851D4F4E0}"/>
              </a:ext>
            </a:extLst>
          </p:cNvPr>
          <p:cNvSpPr>
            <a:spLocks xmlns:a="http://schemas.openxmlformats.org/drawingml/2006/main" noGrp="1"/>
          </p:cNvSpPr>
          <p:nvPr/>
        </p:nvSpPr>
        <p:spPr>
          <a:xfrm xmlns:a="http://schemas.openxmlformats.org/drawingml/2006/main">
            <a:off x="6309360" y="2916936"/>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strike="noStrike" cap="none">
                <a:solidFill>
                  <a:srgbClr val="FFFFFF"/>
                </a:solidFill>
                <a:latin typeface="Calibri"/>
                <a:ea typeface="Calibri"/>
                <a:cs typeface="Calibri"/>
              </a:rPr>
              <a:t>7</a:t>
            </a:r>
            <a:endParaRPr sz="1400" b="0" i="0" u="none" strike="noStrike" cap="none">
              <a:solidFill>
                <a:schemeClr val="dk1"/>
              </a:solidFill>
              <a:latin typeface="Calibri"/>
              <a:ea typeface="Calibri"/>
              <a:cs typeface="Calibri"/>
            </a:endParaRPr>
          </a:p>
        </p:txBody>
      </p:sp>
      <p:sp>
        <p:nvSpPr>
          <p:cNvPr id="62" name="Google Shape;62;p4">
            <a:extLst xmlns:a="http://schemas.openxmlformats.org/drawingml/2006/main">
              <a:ext uri="{FF2B5EF4-FFF2-40B4-BE49-F238E27FC236}">
                <a16:creationId xmlns:a16="http://schemas.microsoft.com/office/drawing/2014/main" id="{B8275C68-A133-40C8-BC15-86144DD08B09}"/>
              </a:ext>
            </a:extLst>
          </p:cNvPr>
          <p:cNvSpPr>
            <a:spLocks xmlns:a="http://schemas.openxmlformats.org/drawingml/2006/main" noGrp="1"/>
          </p:cNvSpPr>
          <p:nvPr/>
        </p:nvSpPr>
        <p:spPr>
          <a:xfrm xmlns:a="http://schemas.openxmlformats.org/drawingml/2006/main">
            <a:off x="6931152" y="2898648"/>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strike="noStrike" cap="none">
                <a:solidFill>
                  <a:srgbClr val="1B1F3B"/>
                </a:solidFill>
                <a:latin typeface="Calibri"/>
                <a:ea typeface="Calibri"/>
                <a:cs typeface="Calibri"/>
              </a:rPr>
              <a:t>Documents and Submission Status</a:t>
            </a:r>
            <a:endParaRPr sz="1600" b="0" i="0" u="none" strike="noStrike" cap="none">
              <a:solidFill>
                <a:schemeClr val="dk1"/>
              </a:solidFill>
              <a:latin typeface="Calibri"/>
              <a:ea typeface="Calibri"/>
              <a:cs typeface="Calibri"/>
            </a:endParaRPr>
          </a:p>
        </p:txBody>
      </p:sp>
      <p:sp>
        <p:nvSpPr>
          <p:cNvPr id="63" name="Google Shape;63;p4">
            <a:extLst xmlns:a="http://schemas.openxmlformats.org/drawingml/2006/main">
              <a:ext uri="{FF2B5EF4-FFF2-40B4-BE49-F238E27FC236}">
                <a16:creationId xmlns:a16="http://schemas.microsoft.com/office/drawing/2014/main" id="{9A8B7C43-A69A-432A-A853-9783361E74C4}"/>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B.TECH SUMMER INTERNSHIP PRESENTATION  ·  LLOYD INSTITUTE OF ENGINEERING &amp; TECHNOLOGY</a:t>
            </a:r>
            <a:endParaRPr sz="900" b="0" i="0" u="none" strike="noStrike" cap="none">
              <a:solidFill>
                <a:schemeClr val="dk1"/>
              </a:solidFill>
              <a:latin typeface="Calibri"/>
              <a:ea typeface="Calibri"/>
              <a:cs typeface="Calibri"/>
            </a:endParaRPr>
          </a:p>
        </p:txBody>
      </p:sp>
      <p:sp>
        <p:nvSpPr>
          <p:cNvPr id="64" name="Google Shape;64;p4">
            <a:extLst xmlns:a="http://schemas.openxmlformats.org/drawingml/2006/main">
              <a:ext uri="{FF2B5EF4-FFF2-40B4-BE49-F238E27FC236}">
                <a16:creationId xmlns:a16="http://schemas.microsoft.com/office/drawing/2014/main" id="{47AAB557-6E0B-48A6-ABE7-622D9FBB24E4}"/>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2</a:t>
            </a:r>
            <a:endParaRPr sz="9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481611153"/>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0" name="Google Shape;70;p5">
            <a:extLst xmlns:a="http://schemas.openxmlformats.org/drawingml/2006/main">
              <a:ext uri="{FF2B5EF4-FFF2-40B4-BE49-F238E27FC236}">
                <a16:creationId xmlns:a16="http://schemas.microsoft.com/office/drawing/2014/main" id="{1B94749F-59C9-483A-8F74-41EE5D5795D1}"/>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1" name="Google Shape;71;p5">
            <a:extLst xmlns:a="http://schemas.openxmlformats.org/drawingml/2006/main">
              <a:ext uri="{FF2B5EF4-FFF2-40B4-BE49-F238E27FC236}">
                <a16:creationId xmlns:a16="http://schemas.microsoft.com/office/drawing/2014/main" id="{2ED29E11-7E28-465F-AE94-030DF337B438}"/>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2" name="Google Shape;72;p5">
            <a:extLst xmlns:a="http://schemas.openxmlformats.org/drawingml/2006/main">
              <a:ext uri="{FF2B5EF4-FFF2-40B4-BE49-F238E27FC236}">
                <a16:creationId xmlns:a16="http://schemas.microsoft.com/office/drawing/2014/main" id="{6D723775-A24F-4DF2-96C5-37554E838EB7}"/>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3" name="Google Shape;73;p5">
            <a:extLst xmlns:a="http://schemas.openxmlformats.org/drawingml/2006/main">
              <a:ext uri="{FF2B5EF4-FFF2-40B4-BE49-F238E27FC236}">
                <a16:creationId xmlns:a16="http://schemas.microsoft.com/office/drawing/2014/main" id="{64FA26F8-4282-4F52-BEC2-8E21786FAB14}"/>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strike="noStrike" cap="none">
                <a:solidFill>
                  <a:srgbClr val="FFFFFF"/>
                </a:solidFill>
                <a:latin typeface="Calibri"/>
                <a:ea typeface="Calibri"/>
                <a:cs typeface="Calibri"/>
              </a:rPr>
              <a:t>02</a:t>
            </a:r>
            <a:endParaRPr sz="1600" b="0" i="0" u="none" strike="noStrike" cap="none">
              <a:solidFill>
                <a:schemeClr val="dk1"/>
              </a:solidFill>
              <a:latin typeface="Calibri"/>
              <a:ea typeface="Calibri"/>
              <a:cs typeface="Calibri"/>
            </a:endParaRPr>
          </a:p>
        </p:txBody>
      </p:sp>
      <p:sp>
        <p:nvSpPr>
          <p:cNvPr id="74" name="Google Shape;74;p5">
            <a:extLst xmlns:a="http://schemas.openxmlformats.org/drawingml/2006/main">
              <a:ext uri="{FF2B5EF4-FFF2-40B4-BE49-F238E27FC236}">
                <a16:creationId xmlns:a16="http://schemas.microsoft.com/office/drawing/2014/main" id="{149C067B-E473-4DD1-9965-223F6C7EA9A1}"/>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strike="noStrike" cap="none">
                <a:solidFill>
                  <a:srgbClr val="1C7293"/>
                </a:solidFill>
                <a:latin typeface="Calibri"/>
                <a:ea typeface="Calibri"/>
                <a:cs typeface="Calibri"/>
              </a:rPr>
              <a:t>SECTION 02</a:t>
            </a:r>
            <a:endParaRPr sz="1100" b="0" i="0" u="none" strike="noStrike" cap="none">
              <a:solidFill>
                <a:schemeClr val="dk1"/>
              </a:solidFill>
              <a:latin typeface="Calibri"/>
              <a:ea typeface="Calibri"/>
              <a:cs typeface="Calibri"/>
            </a:endParaRPr>
          </a:p>
        </p:txBody>
      </p:sp>
      <p:sp>
        <p:nvSpPr>
          <p:cNvPr id="75" name="Google Shape;75;p5">
            <a:extLst xmlns:a="http://schemas.openxmlformats.org/drawingml/2006/main">
              <a:ext uri="{FF2B5EF4-FFF2-40B4-BE49-F238E27FC236}">
                <a16:creationId xmlns:a16="http://schemas.microsoft.com/office/drawing/2014/main" id="{10210389-1560-4CE4-A0E5-A8DEA99CADB3}"/>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strike="noStrike" cap="none">
                <a:solidFill>
                  <a:srgbClr val="21295C"/>
                </a:solidFill>
                <a:latin typeface="Cambria"/>
                <a:ea typeface="Cambria"/>
                <a:cs typeface="Cambria"/>
              </a:rPr>
              <a:t>Internship Overview</a:t>
            </a:r>
            <a:endParaRPr sz="3000" b="0" i="0" u="none" strike="noStrike" cap="none">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7101B5E4-E593-4699-A8B7-9B939F268CAA}"/>
              </a:ext>
            </a:extLst>
          </p:cNvPr>
          <p:cNvSpPr>
            <a:spLocks xmlns:a="http://schemas.openxmlformats.org/drawingml/2006/main" noGrp="1"/>
          </p:cNvSpPr>
          <p:nvPr/>
        </p:nvSpPr>
        <p:spPr>
          <a:xfrm xmlns:a="http://schemas.openxmlformats.org/drawingml/2006/main">
            <a:off x="1234450" y="1393775"/>
            <a:ext cx="9852300" cy="4788600"/>
          </a:xfrm>
          <a:prstGeom xmlns:a="http://schemas.openxmlformats.org/drawingml/2006/main" prst="roundRect">
            <a:avLst>
              <a:gd name="adj" fmla="val 2564"/>
            </a:avLst>
          </a:prstGeom>
          <a:solidFill xmlns:a="http://schemas.openxmlformats.org/drawingml/2006/main">
            <a:srgbClr val="FFFFFF"/>
          </a:solidFill>
          <a:ln xmlns:a="http://schemas.openxmlformats.org/drawingml/2006/main" w="12700" cap="flat" cmpd="sng">
            <a:solidFill>
              <a:srgbClr val="DEE4EF"/>
            </a:solidFill>
            <a:prstDash val="dash"/>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7" name="Google Shape;77;p5">
            <a:extLst xmlns:a="http://schemas.openxmlformats.org/drawingml/2006/main">
              <a:ext uri="{FF2B5EF4-FFF2-40B4-BE49-F238E27FC236}">
                <a16:creationId xmlns:a16="http://schemas.microsoft.com/office/drawing/2014/main" id="{E1CC54BB-E401-47C8-B03D-6B72DA0FDD02}"/>
              </a:ext>
            </a:extLst>
          </p:cNvPr>
          <p:cNvSpPr>
            <a:spLocks xmlns:a="http://schemas.openxmlformats.org/drawingml/2006/main" noGrp="1"/>
          </p:cNvSpPr>
          <p:nvPr/>
        </p:nvSpPr>
        <p:spPr>
          <a:xfrm xmlns:a="http://schemas.openxmlformats.org/drawingml/2006/main">
            <a:off x="1520475" y="1393775"/>
            <a:ext cx="9140100" cy="47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5250" tIns="95250" rIns="95250" bIns="95250" anchor="ctr">
            <a:noAutofit/>
          </a:bodyPr>
          <a:lstStyle xmlns:a="http://schemas.openxmlformats.org/drawingml/2006/main">
            <a:defPPr>
              <a:defRPr sz="1650" b="0">
                <a:solidFill>
                  <a:srgbClr val="1B1F3B"/>
                </a:solidFill>
                <a:latin typeface="Calibri"/>
                <a:ea typeface="Calibri"/>
                <a:cs typeface="Calibri"/>
              </a:defRPr>
            </a:defPPr>
            <a:lvl1pPr>
              <a:defRPr sz="1650" b="0">
                <a:solidFill>
                  <a:srgbClr val="1B1F3B"/>
                </a:solidFill>
                <a:latin typeface="Calibri"/>
                <a:ea typeface="Calibri"/>
                <a:cs typeface="Calibri"/>
              </a:defRPr>
            </a:lvl1pPr>
            <a:lvl2pPr>
              <a:defRPr sz="1650" b="0">
                <a:solidFill>
                  <a:srgbClr val="1B1F3B"/>
                </a:solidFill>
                <a:latin typeface="Calibri"/>
                <a:ea typeface="Calibri"/>
                <a:cs typeface="Calibri"/>
              </a:defRPr>
            </a:lvl2pPr>
            <a:lvl3pPr>
              <a:defRPr sz="1650" b="0">
                <a:solidFill>
                  <a:srgbClr val="1B1F3B"/>
                </a:solidFill>
                <a:latin typeface="Calibri"/>
                <a:ea typeface="Calibri"/>
                <a:cs typeface="Calibri"/>
              </a:defRPr>
            </a:lvl3pPr>
            <a:lvl4pPr>
              <a:defRPr sz="1650" b="0">
                <a:solidFill>
                  <a:srgbClr val="1B1F3B"/>
                </a:solidFill>
                <a:latin typeface="Calibri"/>
                <a:ea typeface="Calibri"/>
                <a:cs typeface="Calibri"/>
              </a:defRPr>
            </a:lvl4pPr>
            <a:lvl5pPr>
              <a:defRPr sz="1650" b="0">
                <a:solidFill>
                  <a:srgbClr val="1B1F3B"/>
                </a:solidFill>
                <a:latin typeface="Calibri"/>
                <a:ea typeface="Calibri"/>
                <a:cs typeface="Calibri"/>
              </a:defRPr>
            </a:lvl5pPr>
            <a:lvl6pPr>
              <a:defRPr sz="1650" b="0">
                <a:solidFill>
                  <a:srgbClr val="1B1F3B"/>
                </a:solidFill>
                <a:latin typeface="Calibri"/>
                <a:ea typeface="Calibri"/>
                <a:cs typeface="Calibri"/>
              </a:defRPr>
            </a:lvl6pPr>
            <a:lvl7pPr>
              <a:defRPr sz="1650" b="0">
                <a:solidFill>
                  <a:srgbClr val="1B1F3B"/>
                </a:solidFill>
                <a:latin typeface="Calibri"/>
                <a:ea typeface="Calibri"/>
                <a:cs typeface="Calibri"/>
              </a:defRPr>
            </a:lvl7pPr>
            <a:lvl8pPr>
              <a:defRPr sz="1650" b="0">
                <a:solidFill>
                  <a:srgbClr val="1B1F3B"/>
                </a:solidFill>
                <a:latin typeface="Calibri"/>
                <a:ea typeface="Calibri"/>
                <a:cs typeface="Calibri"/>
              </a:defRPr>
            </a:lvl8pPr>
            <a:lvl9pPr>
              <a:defRPr sz="1650" b="0">
                <a:solidFill>
                  <a:srgbClr val="1B1F3B"/>
                </a:solidFill>
                <a:latin typeface="Calibri"/>
                <a:ea typeface="Calibri"/>
                <a:cs typeface="Calibri"/>
              </a:defRPr>
            </a:lvl9pPr>
          </a:lstStyle>
          <a:p xmlns:a="http://schemas.openxmlformats.org/drawingml/2006/main">
            <a:pPr>
              <a:spcAft>
                <a:spcPts val="14"/>
              </a:spcAft>
              <a:defRPr sz="1650" b="0">
                <a:solidFill>
                  <a:srgbClr val="1B1F3B"/>
                </a:solidFill>
                <a:latin typeface="Calibri"/>
                <a:ea typeface="Calibri"/>
                <a:cs typeface="Calibri"/>
              </a:defRPr>
            </a:pPr>
            <a:r>
              <a:rPr sz="1650" b="0">
                <a:solidFill>
                  <a:srgbClr val="1B1F3B"/>
                </a:solidFill>
                <a:latin typeface="Calibri"/>
                <a:ea typeface="Calibri"/>
                <a:cs typeface="Calibri"/>
              </a:rPr>
              <a:t>Host organisation: </a:t>
            </a:r>
            <a:r>
              <a:rPr sz="1650" b="0">
                <a:solidFill>
                  <a:srgbClr val="1B1F3B"/>
                </a:solidFill>
                <a:latin typeface="Calibri"/>
                <a:ea typeface="Calibri"/>
                <a:cs typeface="Calibri"/>
              </a:rPr>
              <a:t>[Organisation name, location]</a:t>
            </a:r>
          </a:p>
          <a:p xmlns:a="http://schemas.openxmlformats.org/drawingml/2006/main">
            <a:pPr>
              <a:spcAft>
                <a:spcPts val="14"/>
              </a:spcAft>
              <a:defRPr sz="1650" b="0">
                <a:solidFill>
                  <a:srgbClr val="1B1F3B"/>
                </a:solidFill>
                <a:latin typeface="Calibri"/>
                <a:ea typeface="Calibri"/>
                <a:cs typeface="Calibri"/>
              </a:defRPr>
            </a:pPr>
            <a:r>
              <a:rPr sz="1650" b="0">
                <a:solidFill>
                  <a:srgbClr val="1B1F3B"/>
                </a:solidFill>
                <a:latin typeface="Calibri"/>
                <a:ea typeface="Calibri"/>
                <a:cs typeface="Calibri"/>
              </a:rPr>
              <a:t>Domain and project: </a:t>
            </a:r>
            <a:r>
              <a:rPr sz="1650" b="0">
                <a:solidFill>
                  <a:srgbClr val="1B1F3B"/>
                </a:solidFill>
                <a:latin typeface="Calibri"/>
                <a:ea typeface="Calibri"/>
                <a:cs typeface="Calibri"/>
              </a:rPr>
              <a:t>Machine learning / Insurance Charge Predictor</a:t>
            </a:r>
          </a:p>
          <a:p xmlns:a="http://schemas.openxmlformats.org/drawingml/2006/main">
            <a:pPr>
              <a:spcAft>
                <a:spcPts val="14"/>
              </a:spcAft>
              <a:defRPr sz="1650" b="0">
                <a:solidFill>
                  <a:srgbClr val="1B1F3B"/>
                </a:solidFill>
                <a:latin typeface="Calibri"/>
                <a:ea typeface="Calibri"/>
                <a:cs typeface="Calibri"/>
              </a:defRPr>
            </a:pPr>
            <a:r>
              <a:rPr sz="1650" b="0">
                <a:solidFill>
                  <a:srgbClr val="1B1F3B"/>
                </a:solidFill>
                <a:latin typeface="Calibri"/>
                <a:ea typeface="Calibri"/>
                <a:cs typeface="Calibri"/>
              </a:rPr>
              <a:t>Duration: </a:t>
            </a:r>
            <a:r>
              <a:rPr sz="1650" b="0">
                <a:solidFill>
                  <a:srgbClr val="1B1F3B"/>
                </a:solidFill>
                <a:latin typeface="Calibri"/>
                <a:ea typeface="Calibri"/>
                <a:cs typeface="Calibri"/>
              </a:rPr>
              <a:t>[Duration]   From: [Start date]   To: [End date]</a:t>
            </a:r>
          </a:p>
          <a:p xmlns:a="http://schemas.openxmlformats.org/drawingml/2006/main">
            <a:pPr>
              <a:spcAft>
                <a:spcPts val="14"/>
              </a:spcAft>
              <a:defRPr sz="1650" b="0">
                <a:solidFill>
                  <a:srgbClr val="1B1F3B"/>
                </a:solidFill>
                <a:latin typeface="Calibri"/>
                <a:ea typeface="Calibri"/>
                <a:cs typeface="Calibri"/>
              </a:defRPr>
            </a:pPr>
            <a:r>
              <a:rPr sz="1650" b="0">
                <a:solidFill>
                  <a:srgbClr val="1B1F3B"/>
                </a:solidFill>
                <a:latin typeface="Calibri"/>
                <a:ea typeface="Calibri"/>
                <a:cs typeface="Calibri"/>
              </a:rPr>
              <a:t>Mode: </a:t>
            </a:r>
            <a:r>
              <a:rPr sz="1650" b="0">
                <a:solidFill>
                  <a:srgbClr val="1B1F3B"/>
                </a:solidFill>
                <a:latin typeface="Calibri"/>
                <a:ea typeface="Calibri"/>
                <a:cs typeface="Calibri"/>
              </a:rPr>
              <a:t>[On-site / Remote / Hybrid]</a:t>
            </a:r>
          </a:p>
          <a:p xmlns:a="http://schemas.openxmlformats.org/drawingml/2006/main">
            <a:pPr>
              <a:spcAft>
                <a:spcPts val="14"/>
              </a:spcAft>
              <a:defRPr sz="1650" b="0">
                <a:solidFill>
                  <a:srgbClr val="1B1F3B"/>
                </a:solidFill>
                <a:latin typeface="Calibri"/>
                <a:ea typeface="Calibri"/>
                <a:cs typeface="Calibri"/>
              </a:defRPr>
            </a:pPr>
            <a:r>
              <a:rPr sz="1650" b="0">
                <a:solidFill>
                  <a:srgbClr val="1B1F3B"/>
                </a:solidFill>
                <a:latin typeface="Calibri"/>
                <a:ea typeface="Calibri"/>
                <a:cs typeface="Calibri"/>
              </a:rPr>
              <a:t>Supervisors: </a:t>
            </a:r>
            <a:r>
              <a:rPr sz="1650" b="0">
                <a:solidFill>
                  <a:srgbClr val="1B1F3B"/>
                </a:solidFill>
                <a:latin typeface="Calibri"/>
                <a:ea typeface="Calibri"/>
                <a:cs typeface="Calibri"/>
              </a:rPr>
              <a:t>[Industry supervisor]   /   [Faculty mentor]</a:t>
            </a:r>
          </a:p>
          <a:p xmlns:a="http://schemas.openxmlformats.org/drawingml/2006/main">
            <a:pPr>
              <a:spcAft>
                <a:spcPts val="14"/>
              </a:spcAft>
              <a:defRPr sz="1650" b="0">
                <a:solidFill>
                  <a:srgbClr val="1B1F3B"/>
                </a:solidFill>
                <a:latin typeface="Calibri"/>
                <a:ea typeface="Calibri"/>
                <a:cs typeface="Calibri"/>
              </a:defRPr>
            </a:pPr>
            <a:r>
              <a:rPr sz="1650" b="0">
                <a:solidFill>
                  <a:srgbClr val="1B1F3B"/>
                </a:solidFill>
                <a:latin typeface="Calibri"/>
                <a:ea typeface="Calibri"/>
                <a:cs typeface="Calibri"/>
              </a:rPr>
              <a:t>Project task: </a:t>
            </a:r>
            <a:r>
              <a:rPr sz="1650" b="0">
                <a:solidFill>
                  <a:srgbClr val="1B1F3B"/>
                </a:solidFill>
                <a:latin typeface="Calibri"/>
                <a:ea typeface="Calibri"/>
                <a:cs typeface="Calibri"/>
              </a:rPr>
              <a:t>Estimate medical charges from six profile inputs.</a:t>
            </a:r>
          </a:p>
          <a:p xmlns:a="http://schemas.openxmlformats.org/drawingml/2006/main">
            <a:pPr>
              <a:spcAft>
                <a:spcPts val="14"/>
              </a:spcAft>
              <a:defRPr sz="1650" b="0">
                <a:solidFill>
                  <a:srgbClr val="1B1F3B"/>
                </a:solidFill>
                <a:latin typeface="Calibri"/>
                <a:ea typeface="Calibri"/>
                <a:cs typeface="Calibri"/>
              </a:defRPr>
            </a:pPr>
            <a:r>
              <a:rPr sz="1650" b="0">
                <a:solidFill>
                  <a:srgbClr val="1B1F3B"/>
                </a:solidFill>
                <a:latin typeface="Calibri"/>
                <a:ea typeface="Calibri"/>
                <a:cs typeface="Calibri"/>
              </a:rPr>
              <a:t>Dataset: </a:t>
            </a:r>
            <a:r>
              <a:rPr sz="1650" b="0">
                <a:solidFill>
                  <a:srgbClr val="1B1F3B"/>
                </a:solidFill>
                <a:latin typeface="Calibri"/>
                <a:ea typeface="Calibri"/>
                <a:cs typeface="Calibri"/>
              </a:rPr>
              <a:t>1,338 source rows, 1,337 clean rows, target in USD.</a:t>
            </a:r>
          </a:p>
          <a:p xmlns:a="http://schemas.openxmlformats.org/drawingml/2006/main">
            <a:pPr>
              <a:defRPr sz="1650" b="0">
                <a:solidFill>
                  <a:srgbClr val="1B1F3B"/>
                </a:solidFill>
                <a:latin typeface="Calibri"/>
                <a:ea typeface="Calibri"/>
                <a:cs typeface="Calibri"/>
              </a:defRPr>
            </a:pPr>
            <a:r>
              <a:rPr sz="1650" b="0">
                <a:solidFill>
                  <a:srgbClr val="1B1F3B"/>
                </a:solidFill>
                <a:latin typeface="Calibri"/>
                <a:ea typeface="Calibri"/>
                <a:cs typeface="Calibri"/>
              </a:rPr>
              <a:t>Use: </a:t>
            </a:r>
            <a:r>
              <a:rPr sz="1650" b="0">
                <a:solidFill>
                  <a:srgbClr val="1B1F3B"/>
                </a:solidFill>
                <a:latin typeface="Calibri"/>
                <a:ea typeface="Calibri"/>
                <a:cs typeface="Calibri"/>
              </a:rPr>
              <a:t>A local academic demonstration of supervised regression.</a:t>
            </a:r>
          </a:p>
        </p:txBody>
      </p:sp>
      <p:sp>
        <p:nvSpPr>
          <p:cNvPr id="78" name="Google Shape;78;p5">
            <a:extLst xmlns:a="http://schemas.openxmlformats.org/drawingml/2006/main">
              <a:ext uri="{FF2B5EF4-FFF2-40B4-BE49-F238E27FC236}">
                <a16:creationId xmlns:a16="http://schemas.microsoft.com/office/drawing/2014/main" id="{1813513F-FF73-47EE-A8C7-206CC5C5C7E9}"/>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B.TECH SUMMER INTERNSHIP PRESENTATION  ·  LLOYD INSTITUTE OF ENGINEERING &amp; TECHNOLOGY</a:t>
            </a:r>
            <a:endParaRPr sz="900" b="0" i="0" u="none" strike="noStrike" cap="none">
              <a:solidFill>
                <a:schemeClr val="dk1"/>
              </a:solidFill>
              <a:latin typeface="Calibri"/>
              <a:ea typeface="Calibri"/>
              <a:cs typeface="Calibri"/>
            </a:endParaRPr>
          </a:p>
        </p:txBody>
      </p:sp>
      <p:sp>
        <p:nvSpPr>
          <p:cNvPr id="79" name="Google Shape;79;p5">
            <a:extLst xmlns:a="http://schemas.openxmlformats.org/drawingml/2006/main">
              <a:ext uri="{FF2B5EF4-FFF2-40B4-BE49-F238E27FC236}">
                <a16:creationId xmlns:a16="http://schemas.microsoft.com/office/drawing/2014/main" id="{419FEF55-B84B-4DD9-B3A1-D1E6717DEB00}"/>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3</a:t>
            </a:r>
            <a:endParaRPr sz="9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2630106"/>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5" name="Google Shape;85;p6">
            <a:extLst xmlns:a="http://schemas.openxmlformats.org/drawingml/2006/main">
              <a:ext uri="{FF2B5EF4-FFF2-40B4-BE49-F238E27FC236}">
                <a16:creationId xmlns:a16="http://schemas.microsoft.com/office/drawing/2014/main" id="{EC37CF31-B7BC-4F59-A928-C3B6CEF6073F}"/>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6" name="Google Shape;86;p6">
            <a:extLst xmlns:a="http://schemas.openxmlformats.org/drawingml/2006/main">
              <a:ext uri="{FF2B5EF4-FFF2-40B4-BE49-F238E27FC236}">
                <a16:creationId xmlns:a16="http://schemas.microsoft.com/office/drawing/2014/main" id="{831EADEC-72F2-406B-8E37-67356726E319}"/>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7" name="Google Shape;87;p6">
            <a:extLst xmlns:a="http://schemas.openxmlformats.org/drawingml/2006/main">
              <a:ext uri="{FF2B5EF4-FFF2-40B4-BE49-F238E27FC236}">
                <a16:creationId xmlns:a16="http://schemas.microsoft.com/office/drawing/2014/main" id="{8CA5C9B4-2D11-41C4-8EB6-B57F2DD55AEA}"/>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8" name="Google Shape;88;p6">
            <a:extLst xmlns:a="http://schemas.openxmlformats.org/drawingml/2006/main">
              <a:ext uri="{FF2B5EF4-FFF2-40B4-BE49-F238E27FC236}">
                <a16:creationId xmlns:a16="http://schemas.microsoft.com/office/drawing/2014/main" id="{0F7DC99B-33D7-4EA0-BC9A-0395ACE831C7}"/>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strike="noStrike" cap="none">
                <a:solidFill>
                  <a:srgbClr val="FFFFFF"/>
                </a:solidFill>
                <a:latin typeface="Calibri"/>
                <a:ea typeface="Calibri"/>
                <a:cs typeface="Calibri"/>
              </a:rPr>
              <a:t>03</a:t>
            </a:r>
            <a:endParaRPr sz="1600" b="0" i="0" u="none" strike="noStrike" cap="none">
              <a:solidFill>
                <a:schemeClr val="dk1"/>
              </a:solidFill>
              <a:latin typeface="Calibri"/>
              <a:ea typeface="Calibri"/>
              <a:cs typeface="Calibri"/>
            </a:endParaRPr>
          </a:p>
        </p:txBody>
      </p:sp>
      <p:sp>
        <p:nvSpPr>
          <p:cNvPr id="89" name="Google Shape;89;p6">
            <a:extLst xmlns:a="http://schemas.openxmlformats.org/drawingml/2006/main">
              <a:ext uri="{FF2B5EF4-FFF2-40B4-BE49-F238E27FC236}">
                <a16:creationId xmlns:a16="http://schemas.microsoft.com/office/drawing/2014/main" id="{299A8956-38CD-4B1C-AB7F-C38352F5C08B}"/>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strike="noStrike" cap="none">
                <a:solidFill>
                  <a:srgbClr val="1C7293"/>
                </a:solidFill>
                <a:latin typeface="Calibri"/>
                <a:ea typeface="Calibri"/>
                <a:cs typeface="Calibri"/>
              </a:rPr>
              <a:t>SECTION 03</a:t>
            </a:r>
            <a:endParaRPr sz="1100" b="0" i="0" u="none" strike="noStrike" cap="none">
              <a:solidFill>
                <a:schemeClr val="dk1"/>
              </a:solidFill>
              <a:latin typeface="Calibri"/>
              <a:ea typeface="Calibri"/>
              <a:cs typeface="Calibri"/>
            </a:endParaRPr>
          </a:p>
        </p:txBody>
      </p:sp>
      <p:sp>
        <p:nvSpPr>
          <p:cNvPr id="90" name="Google Shape;90;p6">
            <a:extLst xmlns:a="http://schemas.openxmlformats.org/drawingml/2006/main">
              <a:ext uri="{FF2B5EF4-FFF2-40B4-BE49-F238E27FC236}">
                <a16:creationId xmlns:a16="http://schemas.microsoft.com/office/drawing/2014/main" id="{4D1A67EB-2D34-4A02-925B-A06306D7FC84}"/>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strike="noStrike" cap="none">
                <a:solidFill>
                  <a:srgbClr val="21295C"/>
                </a:solidFill>
                <a:latin typeface="Cambria"/>
                <a:ea typeface="Cambria"/>
                <a:cs typeface="Cambria"/>
              </a:rPr>
              <a:t>Objectives of the Internship</a:t>
            </a:r>
            <a:endParaRPr sz="3000" b="0" i="0" u="none" strike="noStrike" cap="none">
              <a:solidFill>
                <a:schemeClr val="dk1"/>
              </a:solidFill>
              <a:latin typeface="Calibri"/>
              <a:ea typeface="Calibri"/>
              <a:cs typeface="Calibri"/>
            </a:endParaRPr>
          </a:p>
        </p:txBody>
      </p:sp>
      <p:sp>
        <p:nvSpPr>
          <p:cNvPr id="91" name="Google Shape;91;p6">
            <a:extLst xmlns:a="http://schemas.openxmlformats.org/drawingml/2006/main">
              <a:ext uri="{FF2B5EF4-FFF2-40B4-BE49-F238E27FC236}">
                <a16:creationId xmlns:a16="http://schemas.microsoft.com/office/drawing/2014/main" id="{66E6B7B3-FE11-4A24-BD90-47842FA27AD5}"/>
              </a:ext>
            </a:extLst>
          </p:cNvPr>
          <p:cNvSpPr>
            <a:spLocks xmlns:a="http://schemas.openxmlformats.org/drawingml/2006/main" noGrp="1"/>
          </p:cNvSpPr>
          <p:nvPr/>
        </p:nvSpPr>
        <p:spPr>
          <a:xfrm xmlns:a="http://schemas.openxmlformats.org/drawingml/2006/main">
            <a:off x="1234436" y="1632232"/>
            <a:ext cx="9915900" cy="44505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2" name="Google Shape;92;p6">
            <a:extLst xmlns:a="http://schemas.openxmlformats.org/drawingml/2006/main">
              <a:ext uri="{FF2B5EF4-FFF2-40B4-BE49-F238E27FC236}">
                <a16:creationId xmlns:a16="http://schemas.microsoft.com/office/drawing/2014/main" id="{820D3005-9F2E-4E1A-8171-E7CF46A317C1}"/>
              </a:ext>
            </a:extLst>
          </p:cNvPr>
          <p:cNvSpPr>
            <a:spLocks xmlns:a="http://schemas.openxmlformats.org/drawingml/2006/main" noGrp="1"/>
          </p:cNvSpPr>
          <p:nvPr/>
        </p:nvSpPr>
        <p:spPr>
          <a:xfrm xmlns:a="http://schemas.openxmlformats.org/drawingml/2006/main">
            <a:off x="1615500" y="1865375"/>
            <a:ext cx="9170400" cy="397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
            </a:r>
            <a:endParaRPr/>
          </a:p>
        </p:txBody>
      </p:sp>
      <p:sp>
        <p:nvSpPr>
          <p:cNvPr id="93" name="Google Shape;93;p6">
            <a:extLst xmlns:a="http://schemas.openxmlformats.org/drawingml/2006/main">
              <a:ext uri="{FF2B5EF4-FFF2-40B4-BE49-F238E27FC236}">
                <a16:creationId xmlns:a16="http://schemas.microsoft.com/office/drawing/2014/main" id="{EF654448-05A8-49BB-A54B-E2F121C684CB}"/>
              </a:ext>
            </a:extLst>
          </p:cNvPr>
          <p:cNvSpPr>
            <a:spLocks xmlns:a="http://schemas.openxmlformats.org/drawingml/2006/main" noGrp="1"/>
          </p:cNvSpPr>
          <p:nvPr/>
        </p:nvSpPr>
        <p:spPr>
          <a:xfrm xmlns:a="http://schemas.openxmlformats.org/drawingml/2006/main">
            <a:off x="1463040" y="4343400"/>
            <a:ext cx="10059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t/>
            </a:r>
            <a:endParaRPr sz="4000" b="0" i="0" u="none" strike="noStrike" cap="none">
              <a:solidFill>
                <a:schemeClr val="dk1"/>
              </a:solidFill>
              <a:latin typeface="Calibri"/>
              <a:ea typeface="Calibri"/>
              <a:cs typeface="Calibri"/>
            </a:endParaRPr>
          </a:p>
        </p:txBody>
      </p:sp>
      <p:sp>
        <p:nvSpPr>
          <p:cNvPr id="94" name="Google Shape;94;p6">
            <a:extLst xmlns:a="http://schemas.openxmlformats.org/drawingml/2006/main">
              <a:ext uri="{FF2B5EF4-FFF2-40B4-BE49-F238E27FC236}">
                <a16:creationId xmlns:a16="http://schemas.microsoft.com/office/drawing/2014/main" id="{048FE82C-666B-491A-8688-16FABE3CFFD3}"/>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B.TECH SUMMER INTERNSHIP PRESENTATION  ·  LLOYD INSTITUTE OF ENGINEERING &amp; TECHNOLOGY</a:t>
            </a:r>
            <a:endParaRPr sz="900" b="0" i="0" u="none" strike="noStrike" cap="none">
              <a:solidFill>
                <a:schemeClr val="dk1"/>
              </a:solidFill>
              <a:latin typeface="Calibri"/>
              <a:ea typeface="Calibri"/>
              <a:cs typeface="Calibri"/>
            </a:endParaRPr>
          </a:p>
        </p:txBody>
      </p:sp>
      <p:sp>
        <p:nvSpPr>
          <p:cNvPr id="95" name="Google Shape;95;p6">
            <a:extLst xmlns:a="http://schemas.openxmlformats.org/drawingml/2006/main">
              <a:ext uri="{FF2B5EF4-FFF2-40B4-BE49-F238E27FC236}">
                <a16:creationId xmlns:a16="http://schemas.microsoft.com/office/drawing/2014/main" id="{B3D4348B-02FD-4102-8261-EB5538B4D74D}"/>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4</a:t>
            </a:r>
            <a:endParaRPr sz="900" b="0" i="0" u="none" strike="noStrike" cap="none">
              <a:solidFill>
                <a:schemeClr val="dk1"/>
              </a:solidFill>
              <a:latin typeface="Calibri"/>
              <a:ea typeface="Calibri"/>
              <a:cs typeface="Calibri"/>
            </a:endParaRPr>
          </a:p>
        </p:txBody>
      </p:sp>
      <p:sp>
        <p:nvSpPr>
          <p:cNvPr id="96" name="">
            <a:extLst xmlns:a="http://schemas.openxmlformats.org/drawingml/2006/main">
              <a:ext uri="{FF2B5EF4-FFF2-40B4-BE49-F238E27FC236}">
                <a16:creationId xmlns:a16="http://schemas.microsoft.com/office/drawing/2014/main" id="{6D314EE7-5CCB-43E0-841A-1116533A79B1}"/>
              </a:ext>
            </a:extLst>
          </p:cNvPr>
          <p:cNvSpPr>
            <a:spLocks xmlns:a="http://schemas.openxmlformats.org/drawingml/2006/main" noGrp="1"/>
          </p:cNvSpPr>
          <p:nvPr/>
        </p:nvSpPr>
        <p:spPr>
          <a:xfrm xmlns:a="http://schemas.openxmlformats.org/drawingml/2006/main">
            <a:off x="1562100" y="2000250"/>
            <a:ext cx="9191625"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1295C"/>
                </a:solidFill>
                <a:latin typeface="Calibri"/>
                <a:ea typeface="Calibri"/>
                <a:cs typeface="Calibri"/>
              </a:defRPr>
            </a:defPPr>
            <a:lvl1pPr algn="l">
              <a:defRPr sz="1875" b="0">
                <a:solidFill>
                  <a:srgbClr val="21295C"/>
                </a:solidFill>
                <a:latin typeface="Calibri"/>
                <a:ea typeface="Calibri"/>
                <a:cs typeface="Calibri"/>
              </a:defRPr>
            </a:lvl1pPr>
            <a:lvl2pPr algn="l">
              <a:defRPr sz="1875" b="0">
                <a:solidFill>
                  <a:srgbClr val="21295C"/>
                </a:solidFill>
                <a:latin typeface="Calibri"/>
                <a:ea typeface="Calibri"/>
                <a:cs typeface="Calibri"/>
              </a:defRPr>
            </a:lvl2pPr>
            <a:lvl3pPr algn="l">
              <a:defRPr sz="1875" b="0">
                <a:solidFill>
                  <a:srgbClr val="21295C"/>
                </a:solidFill>
                <a:latin typeface="Calibri"/>
                <a:ea typeface="Calibri"/>
                <a:cs typeface="Calibri"/>
              </a:defRPr>
            </a:lvl3pPr>
            <a:lvl4pPr algn="l">
              <a:defRPr sz="1875" b="0">
                <a:solidFill>
                  <a:srgbClr val="21295C"/>
                </a:solidFill>
                <a:latin typeface="Calibri"/>
                <a:ea typeface="Calibri"/>
                <a:cs typeface="Calibri"/>
              </a:defRPr>
            </a:lvl4pPr>
            <a:lvl5pPr algn="l">
              <a:defRPr sz="1875" b="0">
                <a:solidFill>
                  <a:srgbClr val="21295C"/>
                </a:solidFill>
                <a:latin typeface="Calibri"/>
                <a:ea typeface="Calibri"/>
                <a:cs typeface="Calibri"/>
              </a:defRPr>
            </a:lvl5pPr>
            <a:lvl6pPr algn="l">
              <a:defRPr sz="1875" b="0">
                <a:solidFill>
                  <a:srgbClr val="21295C"/>
                </a:solidFill>
                <a:latin typeface="Calibri"/>
                <a:ea typeface="Calibri"/>
                <a:cs typeface="Calibri"/>
              </a:defRPr>
            </a:lvl6pPr>
            <a:lvl7pPr algn="l">
              <a:defRPr sz="1875" b="0">
                <a:solidFill>
                  <a:srgbClr val="21295C"/>
                </a:solidFill>
                <a:latin typeface="Calibri"/>
                <a:ea typeface="Calibri"/>
                <a:cs typeface="Calibri"/>
              </a:defRPr>
            </a:lvl7pPr>
            <a:lvl8pPr algn="l">
              <a:defRPr sz="1875" b="0">
                <a:solidFill>
                  <a:srgbClr val="21295C"/>
                </a:solidFill>
                <a:latin typeface="Calibri"/>
                <a:ea typeface="Calibri"/>
                <a:cs typeface="Calibri"/>
              </a:defRPr>
            </a:lvl8pPr>
            <a:lvl9pPr algn="l">
              <a:defRPr sz="1875" b="0">
                <a:solidFill>
                  <a:srgbClr val="21295C"/>
                </a:solidFill>
                <a:latin typeface="Calibri"/>
                <a:ea typeface="Calibri"/>
                <a:cs typeface="Calibri"/>
              </a:defRPr>
            </a:lvl9pPr>
          </a:lstStyle>
          <a:p xmlns:a="http://schemas.openxmlformats.org/drawingml/2006/main">
            <a:pPr algn="l">
              <a:defRPr sz="1875" b="0">
                <a:solidFill>
                  <a:srgbClr val="21295C"/>
                </a:solidFill>
                <a:latin typeface="Calibri"/>
                <a:ea typeface="Calibri"/>
                <a:cs typeface="Calibri"/>
              </a:defRPr>
            </a:pPr>
            <a:r>
              <a:rPr sz="1875" b="0">
                <a:solidFill>
                  <a:srgbClr val="21295C"/>
                </a:solidFill>
                <a:latin typeface="Calibri"/>
                <a:ea typeface="Calibri"/>
                <a:cs typeface="Calibri"/>
              </a:rPr>
              <a:t>1. Estimate the numerical charges recorded in the benchmark.</a:t>
            </a:r>
          </a:p>
          <a:p xmlns:a="http://schemas.openxmlformats.org/drawingml/2006/main">
            <a:r>
              <a:t/>
            </a:r>
          </a:p>
          <a:p xmlns:a="http://schemas.openxmlformats.org/drawingml/2006/main">
            <a:pPr algn="l">
              <a:defRPr sz="1875" b="0">
                <a:solidFill>
                  <a:srgbClr val="21295C"/>
                </a:solidFill>
                <a:latin typeface="Calibri"/>
                <a:ea typeface="Calibri"/>
                <a:cs typeface="Calibri"/>
              </a:defRPr>
            </a:pPr>
            <a:r>
              <a:rPr sz="1875" b="0">
                <a:solidFill>
                  <a:srgbClr val="21295C"/>
                </a:solidFill>
                <a:latin typeface="Calibri"/>
                <a:ea typeface="Calibri"/>
                <a:cs typeface="Calibri"/>
              </a:rPr>
              <a:t>2. Preserve source data and audit one duplicate before training.</a:t>
            </a:r>
          </a:p>
          <a:p xmlns:a="http://schemas.openxmlformats.org/drawingml/2006/main">
            <a:r>
              <a:t/>
            </a:r>
          </a:p>
          <a:p xmlns:a="http://schemas.openxmlformats.org/drawingml/2006/main">
            <a:pPr algn="l">
              <a:defRPr sz="1875" b="0">
                <a:solidFill>
                  <a:srgbClr val="21295C"/>
                </a:solidFill>
                <a:latin typeface="Calibri"/>
                <a:ea typeface="Calibri"/>
                <a:cs typeface="Calibri"/>
              </a:defRPr>
            </a:pPr>
            <a:r>
              <a:rPr sz="1875" b="0">
                <a:solidFill>
                  <a:srgbClr val="21295C"/>
                </a:solidFill>
                <a:latin typeface="Calibri"/>
                <a:ea typeface="Calibri"/>
                <a:cs typeface="Calibri"/>
              </a:rPr>
              <a:t>3. Compare a mean baseline, ridge, random forest and boosting.</a:t>
            </a:r>
          </a:p>
          <a:p xmlns:a="http://schemas.openxmlformats.org/drawingml/2006/main">
            <a:r>
              <a:t/>
            </a:r>
          </a:p>
          <a:p xmlns:a="http://schemas.openxmlformats.org/drawingml/2006/main">
            <a:pPr algn="l">
              <a:defRPr sz="1875" b="0">
                <a:solidFill>
                  <a:srgbClr val="21295C"/>
                </a:solidFill>
                <a:latin typeface="Calibri"/>
                <a:ea typeface="Calibri"/>
                <a:cs typeface="Calibri"/>
              </a:defRPr>
            </a:pPr>
            <a:r>
              <a:rPr sz="1875" b="0">
                <a:solidFill>
                  <a:srgbClr val="21295C"/>
                </a:solidFill>
                <a:latin typeface="Calibri"/>
                <a:ea typeface="Calibri"/>
                <a:cs typeface="Calibri"/>
              </a:rPr>
              <a:t>4. Select by training cross-validation MAE, then test separately.</a:t>
            </a:r>
          </a:p>
          <a:p xmlns:a="http://schemas.openxmlformats.org/drawingml/2006/main">
            <a:r>
              <a:t/>
            </a:r>
          </a:p>
          <a:p xmlns:a="http://schemas.openxmlformats.org/drawingml/2006/main">
            <a:pPr algn="l">
              <a:defRPr sz="1875" b="0">
                <a:solidFill>
                  <a:srgbClr val="21295C"/>
                </a:solidFill>
                <a:latin typeface="Calibri"/>
                <a:ea typeface="Calibri"/>
                <a:cs typeface="Calibri"/>
              </a:defRPr>
            </a:pPr>
            <a:r>
              <a:rPr sz="1875" b="0">
                <a:solidFill>
                  <a:srgbClr val="21295C"/>
                </a:solidFill>
                <a:latin typeface="Calibri"/>
                <a:ea typeface="Calibri"/>
                <a:cs typeface="Calibri"/>
              </a:rPr>
              <a:t>5. Demonstrate form inputs, profile comparison and CSV predictions.</a:t>
            </a:r>
          </a:p>
        </p:txBody>
      </p:sp>
    </p:spTree>
    <p:extLst>
      <p:ext uri="{BB962C8B-B14F-4D97-AF65-F5344CB8AC3E}">
        <p14:creationId xmlns:p14="http://schemas.microsoft.com/office/powerpoint/2010/main" val="1038513098"/>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01" name="Google Shape;101;p7">
            <a:extLst xmlns:a="http://schemas.openxmlformats.org/drawingml/2006/main">
              <a:ext uri="{FF2B5EF4-FFF2-40B4-BE49-F238E27FC236}">
                <a16:creationId xmlns:a16="http://schemas.microsoft.com/office/drawing/2014/main" id="{C9434C1F-8658-4B6D-9595-832379C002F3}"/>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2" name="Google Shape;102;p7">
            <a:extLst xmlns:a="http://schemas.openxmlformats.org/drawingml/2006/main">
              <a:ext uri="{FF2B5EF4-FFF2-40B4-BE49-F238E27FC236}">
                <a16:creationId xmlns:a16="http://schemas.microsoft.com/office/drawing/2014/main" id="{95E221B1-E616-4442-9ED1-7992667564AF}"/>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3" name="Google Shape;103;p7">
            <a:extLst xmlns:a="http://schemas.openxmlformats.org/drawingml/2006/main">
              <a:ext uri="{FF2B5EF4-FFF2-40B4-BE49-F238E27FC236}">
                <a16:creationId xmlns:a16="http://schemas.microsoft.com/office/drawing/2014/main" id="{57BD5E04-75EC-4051-9EB3-8A7A1782AF52}"/>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strike="noStrike" cap="none">
                <a:solidFill>
                  <a:srgbClr val="FFFFFF"/>
                </a:solidFill>
                <a:latin typeface="Calibri"/>
                <a:ea typeface="Calibri"/>
                <a:cs typeface="Calibri"/>
              </a:rPr>
              <a:t>04</a:t>
            </a:r>
            <a:endParaRPr sz="1600" b="0" i="0" u="none" strike="noStrike" cap="none">
              <a:solidFill>
                <a:schemeClr val="dk1"/>
              </a:solidFill>
              <a:latin typeface="Calibri"/>
              <a:ea typeface="Calibri"/>
              <a:cs typeface="Calibri"/>
            </a:endParaRPr>
          </a:p>
        </p:txBody>
      </p:sp>
      <p:sp>
        <p:nvSpPr>
          <p:cNvPr id="104" name="Google Shape;104;p7">
            <a:extLst xmlns:a="http://schemas.openxmlformats.org/drawingml/2006/main">
              <a:ext uri="{FF2B5EF4-FFF2-40B4-BE49-F238E27FC236}">
                <a16:creationId xmlns:a16="http://schemas.microsoft.com/office/drawing/2014/main" id="{E4530BFB-6A00-40E2-B080-D4AF717E6B75}"/>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strike="noStrike" cap="none">
                <a:solidFill>
                  <a:srgbClr val="1C7293"/>
                </a:solidFill>
                <a:latin typeface="Calibri"/>
                <a:ea typeface="Calibri"/>
                <a:cs typeface="Calibri"/>
              </a:rPr>
              <a:t>SECTION 04</a:t>
            </a:r>
            <a:endParaRPr sz="1100" b="0" i="0" u="none" strike="noStrike" cap="none">
              <a:solidFill>
                <a:schemeClr val="dk1"/>
              </a:solidFill>
              <a:latin typeface="Calibri"/>
              <a:ea typeface="Calibri"/>
              <a:cs typeface="Calibri"/>
            </a:endParaRPr>
          </a:p>
        </p:txBody>
      </p:sp>
      <p:sp>
        <p:nvSpPr>
          <p:cNvPr id="105" name="Google Shape;105;p7">
            <a:extLst xmlns:a="http://schemas.openxmlformats.org/drawingml/2006/main">
              <a:ext uri="{FF2B5EF4-FFF2-40B4-BE49-F238E27FC236}">
                <a16:creationId xmlns:a16="http://schemas.microsoft.com/office/drawing/2014/main" id="{824F4CC0-D424-4075-BAA4-86001BE04A6E}"/>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strike="noStrike" cap="none">
                <a:solidFill>
                  <a:srgbClr val="21295C"/>
                </a:solidFill>
                <a:latin typeface="Cambria"/>
                <a:ea typeface="Cambria"/>
                <a:cs typeface="Cambria"/>
              </a:rPr>
              <a:t>Tools &amp; Technologies Used</a:t>
            </a:r>
            <a:endParaRPr sz="3000" b="0" i="0" u="none" strike="noStrike" cap="none">
              <a:solidFill>
                <a:schemeClr val="dk1"/>
              </a:solidFill>
              <a:latin typeface="Calibri"/>
              <a:ea typeface="Calibri"/>
              <a:cs typeface="Calibri"/>
            </a:endParaRPr>
          </a:p>
        </p:txBody>
      </p:sp>
      <p:sp>
        <p:nvSpPr>
          <p:cNvPr id="106" name="Google Shape;106;p7">
            <a:extLst xmlns:a="http://schemas.openxmlformats.org/drawingml/2006/main">
              <a:ext uri="{FF2B5EF4-FFF2-40B4-BE49-F238E27FC236}">
                <a16:creationId xmlns:a16="http://schemas.microsoft.com/office/drawing/2014/main" id="{B32F772D-869A-4ACA-B3B9-F5AABD58D893}"/>
              </a:ext>
            </a:extLst>
          </p:cNvPr>
          <p:cNvSpPr>
            <a:spLocks xmlns:a="http://schemas.openxmlformats.org/drawingml/2006/main" noGrp="1"/>
          </p:cNvSpPr>
          <p:nvPr/>
        </p:nvSpPr>
        <p:spPr>
          <a:xfrm xmlns:a="http://schemas.openxmlformats.org/drawingml/2006/main">
            <a:off x="1234475" y="1543875"/>
            <a:ext cx="9849000" cy="444540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7" name="Google Shape;107;p7">
            <a:extLst xmlns:a="http://schemas.openxmlformats.org/drawingml/2006/main">
              <a:ext uri="{FF2B5EF4-FFF2-40B4-BE49-F238E27FC236}">
                <a16:creationId xmlns:a16="http://schemas.microsoft.com/office/drawing/2014/main" id="{8FB86BA8-DEB7-48E8-8CCF-D02C4EB8CA96}"/>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B.TECH SUMMER INTERNSHIP PRESENTATION  ·  LLOYD INSTITUTE OF ENGINEERING &amp; TECHNOLOGY</a:t>
            </a:r>
            <a:endParaRPr sz="900" b="0" i="0" u="none" strike="noStrike" cap="none">
              <a:solidFill>
                <a:schemeClr val="dk1"/>
              </a:solidFill>
              <a:latin typeface="Calibri"/>
              <a:ea typeface="Calibri"/>
              <a:cs typeface="Calibri"/>
            </a:endParaRPr>
          </a:p>
        </p:txBody>
      </p:sp>
      <p:sp>
        <p:nvSpPr>
          <p:cNvPr id="108" name="Google Shape;108;p7">
            <a:extLst xmlns:a="http://schemas.openxmlformats.org/drawingml/2006/main">
              <a:ext uri="{FF2B5EF4-FFF2-40B4-BE49-F238E27FC236}">
                <a16:creationId xmlns:a16="http://schemas.microsoft.com/office/drawing/2014/main" id="{84617882-3EF4-4A06-ACD9-1521CD8853E2}"/>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5</a:t>
            </a:r>
            <a:endParaRPr sz="900" b="0" i="0" u="none" strike="noStrike" cap="none">
              <a:solidFill>
                <a:schemeClr val="dk1"/>
              </a:solidFill>
              <a:latin typeface="Calibri"/>
              <a:ea typeface="Calibri"/>
              <a:cs typeface="Calibri"/>
            </a:endParaRPr>
          </a:p>
        </p:txBody>
      </p:sp>
      <p:sp>
        <p:nvSpPr>
          <p:cNvPr id="109" name="Google Shape;109;p7">
            <a:extLst xmlns:a="http://schemas.openxmlformats.org/drawingml/2006/main">
              <a:ext uri="{FF2B5EF4-FFF2-40B4-BE49-F238E27FC236}">
                <a16:creationId xmlns:a16="http://schemas.microsoft.com/office/drawing/2014/main" id="{F56D3E21-8E3E-4E0E-AF89-5CFC45992B55}"/>
              </a:ext>
            </a:extLst>
          </p:cNvPr>
          <p:cNvSpPr>
            <a:spLocks xmlns:a="http://schemas.openxmlformats.org/drawingml/2006/main" noGrp="1"/>
          </p:cNvSpPr>
          <p:nvPr/>
        </p:nvSpPr>
        <p:spPr>
          <a:xfrm xmlns:a="http://schemas.openxmlformats.org/drawingml/2006/main">
            <a:off x="1508728" y="1819643"/>
            <a:ext cx="9261300" cy="3913800"/>
          </a:xfrm>
          <a:prstGeom xmlns:a="http://schemas.openxmlformats.org/drawingml/2006/main" prst="roundRect">
            <a:avLst>
              <a:gd name="adj" fmla="val 6000"/>
            </a:avLst>
          </a:prstGeom>
          <a:solidFill xmlns:a="http://schemas.openxmlformats.org/drawingml/2006/main">
            <a:srgbClr val="F6F8FB"/>
          </a:solidFill>
          <a:ln xmlns:a="http://schemas.openxmlformats.org/drawingml/2006/main" w="9525" cap="flat" cmpd="sng">
            <a:solidFill>
              <a:srgbClr val="DEE4EF"/>
            </a:solidFill>
            <a:prstDash val="solid"/>
            <a:round/>
            <a:headEnd type="none" w="sm" len="sm"/>
            <a:tailEnd type="none" w="sm" len="sm"/>
          </a:ln>
        </p:spPr>
        <p:txBody>
          <a:bodyPr xmlns:a="http://schemas.openxmlformats.org/drawingml/2006/main" spcFirstLastPara="1" wrap="square" lIns="182875" tIns="45700" rIns="182875" bIns="45700" anchor="ctr">
            <a:noAutofit/>
          </a:bodyPr>
          <a:lstStyle xmlns:a="http://schemas.openxmlformats.org/drawingml/2006/main"/>
          <a:p xmlns:a="http://schemas.openxmlformats.org/drawingml/2006/main">
            <a:pPr marL="0" marR="0" lvl="0" indent="0" algn="l">
              <a:lnSpc>
                <a:spcPct val="100000"/>
              </a:lnSpc>
              <a:spcBef>
                <a:spcPts val="800"/>
              </a:spcBef>
              <a:spcAft>
                <a:spcPts val="0"/>
              </a:spcAft>
              <a:buNone/>
            </a:pPr>
            <a:r>
              <a:t/>
            </a:r>
            <a:endParaRPr/>
          </a:p>
        </p:txBody>
      </p:sp>
      <p:graphicFrame>
        <p:nvGraphicFramePr>
          <p:cNvPr id="110" name="">
            <a:extLst xmlns:a="http://schemas.openxmlformats.org/drawingml/2006/main">
              <a:ext uri="{FF2B5EF4-FFF2-40B4-BE49-F238E27FC236}">
                <a16:creationId xmlns:a16="http://schemas.microsoft.com/office/drawing/2014/main" id="{EACC9261-CCA3-42ED-BF3C-0441068A7C92}"/>
              </a:ext>
            </a:extLst>
          </p:cNvPr>
          <p:cNvGraphicFramePr/>
          <p:nvPr/>
        </p:nvGraphicFramePr>
        <p:xfrm>
          <a:off xmlns:a="http://schemas.openxmlformats.org/drawingml/2006/main" x="1752600" y="2019300"/>
          <a:ext xmlns:a="http://schemas.openxmlformats.org/drawingml/2006/main" cx="8763000" cy="3429000"/>
        </p:xfrm>
        <a:graphic xmlns:a="http://schemas.openxmlformats.org/drawingml/2006/main">
          <a:graphicData uri="http://schemas.openxmlformats.org/drawingml/2006/table">
            <a:tbl>
              <a:tblPr/>
              <a:tblGrid>
                <a:gridCol w="2571750"/>
                <a:gridCol w="6191250"/>
              </a:tblGrid>
              <a:tr h="428625">
                <a:tc>
                  <a:txBody>
                    <a:bodyPr lIns="123825" tIns="76200" rIns="114300" bIns="76200">
                      <a:noAutofit/>
                    </a:bodyPr>
                    <a:lstStyle/>
                    <a:p>
                      <a:pPr algn="l"/>
                      <a:r>
                        <a:rPr sz="1425" b="1">
                          <a:solidFill>
                            <a:srgbClr val="FFFFFF"/>
                          </a:solidFill>
                          <a:latin typeface="Calibri"/>
                          <a:ea typeface="Calibri"/>
                          <a:cs typeface="Calibri"/>
                        </a:rPr>
                        <a:t>Technology</a:t>
                      </a:r>
                    </a:p>
                  </a:txBody>
                  <a:tcPr marL="91440" marR="91440" marT="45720" marB="45720" anchor="ctr">
                    <a:lnL w="6668">
                      <a:solidFill>
                        <a:srgbClr val="D9E2F0"/>
                      </a:solidFill>
                      <a:prstDash val="solid"/>
                    </a:lnL>
                    <a:lnR w="6668">
                      <a:solidFill>
                        <a:srgbClr val="D9E2F0"/>
                      </a:solidFill>
                      <a:prstDash val="solid"/>
                    </a:lnR>
                    <a:lnT w="6668">
                      <a:solidFill>
                        <a:srgbClr val="D9E2F0"/>
                      </a:solidFill>
                      <a:prstDash val="solid"/>
                    </a:lnT>
                    <a:lnB w="6668">
                      <a:solidFill>
                        <a:srgbClr val="D9E2F0"/>
                      </a:solidFill>
                      <a:prstDash val="solid"/>
                    </a:lnB>
                    <a:solidFill>
                      <a:srgbClr val="21295C"/>
                    </a:solidFill>
                  </a:tcPr>
                </a:tc>
                <a:tc>
                  <a:txBody>
                    <a:bodyPr lIns="123825" tIns="76200" rIns="114300" bIns="76200">
                      <a:noAutofit/>
                    </a:bodyPr>
                    <a:lstStyle/>
                    <a:p>
                      <a:pPr algn="l"/>
                      <a:r>
                        <a:rPr sz="1425" b="1">
                          <a:solidFill>
                            <a:srgbClr val="FFFFFF"/>
                          </a:solidFill>
                          <a:latin typeface="Calibri"/>
                          <a:ea typeface="Calibri"/>
                          <a:cs typeface="Calibri"/>
                        </a:rPr>
                        <a:t>Purpose in this project</a:t>
                      </a:r>
                    </a:p>
                  </a:txBody>
                  <a:tcPr marL="91440" marR="91440" marT="45720" marB="45720" anchor="ctr">
                    <a:lnR w="6668">
                      <a:solidFill>
                        <a:srgbClr val="D9E2F0"/>
                      </a:solidFill>
                      <a:prstDash val="solid"/>
                    </a:lnR>
                    <a:lnT w="6668">
                      <a:solidFill>
                        <a:srgbClr val="D9E2F0"/>
                      </a:solidFill>
                      <a:prstDash val="solid"/>
                    </a:lnT>
                    <a:lnB w="6668">
                      <a:solidFill>
                        <a:srgbClr val="D9E2F0"/>
                      </a:solidFill>
                      <a:prstDash val="solid"/>
                    </a:lnB>
                    <a:solidFill>
                      <a:srgbClr val="21295C"/>
                    </a:solidFill>
                  </a:tcPr>
                </a:tc>
              </a:tr>
              <a:tr h="428625">
                <a:tc>
                  <a:txBody>
                    <a:bodyPr lIns="123825" tIns="76200" rIns="114300" bIns="76200">
                      <a:noAutofit/>
                    </a:bodyPr>
                    <a:lstStyle/>
                    <a:p>
                      <a:pPr algn="l"/>
                      <a:r>
                        <a:rPr sz="1425" b="0">
                          <a:solidFill>
                            <a:srgbClr val="1B1F3B"/>
                          </a:solidFill>
                          <a:latin typeface="Calibri"/>
                          <a:ea typeface="Calibri"/>
                          <a:cs typeface="Calibri"/>
                        </a:rPr>
                        <a:t>Python 3.12</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FFFFFF"/>
                    </a:solidFill>
                  </a:tcPr>
                </a:tc>
                <a:tc>
                  <a:txBody>
                    <a:bodyPr lIns="123825" tIns="76200" rIns="114300" bIns="76200">
                      <a:noAutofit/>
                    </a:bodyPr>
                    <a:lstStyle/>
                    <a:p>
                      <a:pPr algn="l"/>
                      <a:r>
                        <a:rPr sz="1425" b="0">
                          <a:solidFill>
                            <a:srgbClr val="1B1F3B"/>
                          </a:solidFill>
                          <a:latin typeface="Calibri"/>
                          <a:ea typeface="Calibri"/>
                          <a:cs typeface="Calibri"/>
                        </a:rPr>
                        <a:t>Training code and local HTTP server</a:t>
                      </a:r>
                    </a:p>
                  </a:txBody>
                  <a:tcPr marL="91440" marR="91440" marT="45720" marB="45720" anchor="ctr">
                    <a:lnR w="6668">
                      <a:solidFill>
                        <a:srgbClr val="D9E2F0"/>
                      </a:solidFill>
                      <a:prstDash val="solid"/>
                    </a:lnR>
                    <a:lnB w="6668">
                      <a:solidFill>
                        <a:srgbClr val="D9E2F0"/>
                      </a:solidFill>
                      <a:prstDash val="solid"/>
                    </a:lnB>
                    <a:solidFill>
                      <a:srgbClr val="FFFFFF"/>
                    </a:solidFill>
                  </a:tcPr>
                </a:tc>
              </a:tr>
              <a:tr h="428625">
                <a:tc>
                  <a:txBody>
                    <a:bodyPr lIns="123825" tIns="76200" rIns="114300" bIns="76200">
                      <a:noAutofit/>
                    </a:bodyPr>
                    <a:lstStyle/>
                    <a:p>
                      <a:pPr algn="l"/>
                      <a:r>
                        <a:rPr sz="1425" b="0">
                          <a:solidFill>
                            <a:srgbClr val="1B1F3B"/>
                          </a:solidFill>
                          <a:latin typeface="Calibri"/>
                          <a:ea typeface="Calibri"/>
                          <a:cs typeface="Calibri"/>
                        </a:rPr>
                        <a:t>pandas and NumPy</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EAF1F6"/>
                    </a:solidFill>
                  </a:tcPr>
                </a:tc>
                <a:tc>
                  <a:txBody>
                    <a:bodyPr lIns="123825" tIns="76200" rIns="114300" bIns="76200">
                      <a:noAutofit/>
                    </a:bodyPr>
                    <a:lstStyle/>
                    <a:p>
                      <a:pPr algn="l"/>
                      <a:r>
                        <a:rPr sz="1425" b="0">
                          <a:solidFill>
                            <a:srgbClr val="1B1F3B"/>
                          </a:solidFill>
                          <a:latin typeface="Calibri"/>
                          <a:ea typeface="Calibri"/>
                          <a:cs typeface="Calibri"/>
                        </a:rPr>
                        <a:t>CSV tables, cleaning and numeric validation</a:t>
                      </a:r>
                    </a:p>
                  </a:txBody>
                  <a:tcPr marL="91440" marR="91440" marT="45720" marB="45720" anchor="ctr">
                    <a:lnR w="6668">
                      <a:solidFill>
                        <a:srgbClr val="D9E2F0"/>
                      </a:solidFill>
                      <a:prstDash val="solid"/>
                    </a:lnR>
                    <a:lnB w="6668">
                      <a:solidFill>
                        <a:srgbClr val="D9E2F0"/>
                      </a:solidFill>
                      <a:prstDash val="solid"/>
                    </a:lnB>
                    <a:solidFill>
                      <a:srgbClr val="EAF1F6"/>
                    </a:solidFill>
                  </a:tcPr>
                </a:tc>
              </a:tr>
              <a:tr h="428625">
                <a:tc>
                  <a:txBody>
                    <a:bodyPr lIns="123825" tIns="76200" rIns="114300" bIns="76200">
                      <a:noAutofit/>
                    </a:bodyPr>
                    <a:lstStyle/>
                    <a:p>
                      <a:pPr algn="l"/>
                      <a:r>
                        <a:rPr sz="1425" b="0">
                          <a:solidFill>
                            <a:srgbClr val="1B1F3B"/>
                          </a:solidFill>
                          <a:latin typeface="Calibri"/>
                          <a:ea typeface="Calibri"/>
                          <a:cs typeface="Calibri"/>
                        </a:rPr>
                        <a:t>scikit-learn</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FFFFFF"/>
                    </a:solidFill>
                  </a:tcPr>
                </a:tc>
                <a:tc>
                  <a:txBody>
                    <a:bodyPr lIns="123825" tIns="76200" rIns="114300" bIns="76200">
                      <a:noAutofit/>
                    </a:bodyPr>
                    <a:lstStyle/>
                    <a:p>
                      <a:pPr algn="l"/>
                      <a:r>
                        <a:rPr sz="1425" b="0">
                          <a:solidFill>
                            <a:srgbClr val="1B1F3B"/>
                          </a:solidFill>
                          <a:latin typeface="Calibri"/>
                          <a:ea typeface="Calibri"/>
                          <a:cs typeface="Calibri"/>
                        </a:rPr>
                        <a:t>Preprocessing, regression, cross-validation and metrics</a:t>
                      </a:r>
                    </a:p>
                  </a:txBody>
                  <a:tcPr marL="91440" marR="91440" marT="45720" marB="45720" anchor="ctr">
                    <a:lnR w="6668">
                      <a:solidFill>
                        <a:srgbClr val="D9E2F0"/>
                      </a:solidFill>
                      <a:prstDash val="solid"/>
                    </a:lnR>
                    <a:lnB w="6668">
                      <a:solidFill>
                        <a:srgbClr val="D9E2F0"/>
                      </a:solidFill>
                      <a:prstDash val="solid"/>
                    </a:lnB>
                    <a:solidFill>
                      <a:srgbClr val="FFFFFF"/>
                    </a:solidFill>
                  </a:tcPr>
                </a:tc>
              </a:tr>
              <a:tr h="428625">
                <a:tc>
                  <a:txBody>
                    <a:bodyPr lIns="123825" tIns="76200" rIns="114300" bIns="76200">
                      <a:noAutofit/>
                    </a:bodyPr>
                    <a:lstStyle/>
                    <a:p>
                      <a:pPr algn="l"/>
                      <a:r>
                        <a:rPr sz="1425" b="0">
                          <a:solidFill>
                            <a:srgbClr val="1B1F3B"/>
                          </a:solidFill>
                          <a:latin typeface="Calibri"/>
                          <a:ea typeface="Calibri"/>
                          <a:cs typeface="Calibri"/>
                        </a:rPr>
                        <a:t>Matplotlib</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EAF1F6"/>
                    </a:solidFill>
                  </a:tcPr>
                </a:tc>
                <a:tc>
                  <a:txBody>
                    <a:bodyPr lIns="123825" tIns="76200" rIns="114300" bIns="76200">
                      <a:noAutofit/>
                    </a:bodyPr>
                    <a:lstStyle/>
                    <a:p>
                      <a:pPr algn="l"/>
                      <a:r>
                        <a:rPr sz="1425" b="0">
                          <a:solidFill>
                            <a:srgbClr val="1B1F3B"/>
                          </a:solidFill>
                          <a:latin typeface="Calibri"/>
                          <a:ea typeface="Calibri"/>
                          <a:cs typeface="Calibri"/>
                        </a:rPr>
                        <a:t>Actual-versus-predicted and residual charts</a:t>
                      </a:r>
                    </a:p>
                  </a:txBody>
                  <a:tcPr marL="91440" marR="91440" marT="45720" marB="45720" anchor="ctr">
                    <a:lnR w="6668">
                      <a:solidFill>
                        <a:srgbClr val="D9E2F0"/>
                      </a:solidFill>
                      <a:prstDash val="solid"/>
                    </a:lnR>
                    <a:lnB w="6668">
                      <a:solidFill>
                        <a:srgbClr val="D9E2F0"/>
                      </a:solidFill>
                      <a:prstDash val="solid"/>
                    </a:lnB>
                    <a:solidFill>
                      <a:srgbClr val="EAF1F6"/>
                    </a:solidFill>
                  </a:tcPr>
                </a:tc>
              </a:tr>
              <a:tr h="428625">
                <a:tc>
                  <a:txBody>
                    <a:bodyPr lIns="123825" tIns="76200" rIns="114300" bIns="76200">
                      <a:noAutofit/>
                    </a:bodyPr>
                    <a:lstStyle/>
                    <a:p>
                      <a:pPr algn="l"/>
                      <a:r>
                        <a:rPr sz="1425" b="0">
                          <a:solidFill>
                            <a:srgbClr val="1B1F3B"/>
                          </a:solidFill>
                          <a:latin typeface="Calibri"/>
                          <a:ea typeface="Calibri"/>
                          <a:cs typeface="Calibri"/>
                        </a:rPr>
                        <a:t>Joblib</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FFFFFF"/>
                    </a:solidFill>
                  </a:tcPr>
                </a:tc>
                <a:tc>
                  <a:txBody>
                    <a:bodyPr lIns="123825" tIns="76200" rIns="114300" bIns="76200">
                      <a:noAutofit/>
                    </a:bodyPr>
                    <a:lstStyle/>
                    <a:p>
                      <a:pPr algn="l"/>
                      <a:r>
                        <a:rPr sz="1425" b="0">
                          <a:solidFill>
                            <a:srgbClr val="1B1F3B"/>
                          </a:solidFill>
                          <a:latin typeface="Calibri"/>
                          <a:ea typeface="Calibri"/>
                          <a:cs typeface="Calibri"/>
                        </a:rPr>
                        <a:t>Save and load the fitted preprocessing pipeline</a:t>
                      </a:r>
                    </a:p>
                  </a:txBody>
                  <a:tcPr marL="91440" marR="91440" marT="45720" marB="45720" anchor="ctr">
                    <a:lnR w="6668">
                      <a:solidFill>
                        <a:srgbClr val="D9E2F0"/>
                      </a:solidFill>
                      <a:prstDash val="solid"/>
                    </a:lnR>
                    <a:lnB w="6668">
                      <a:solidFill>
                        <a:srgbClr val="D9E2F0"/>
                      </a:solidFill>
                      <a:prstDash val="solid"/>
                    </a:lnB>
                    <a:solidFill>
                      <a:srgbClr val="FFFFFF"/>
                    </a:solidFill>
                  </a:tcPr>
                </a:tc>
              </a:tr>
              <a:tr h="428625">
                <a:tc>
                  <a:txBody>
                    <a:bodyPr lIns="123825" tIns="76200" rIns="114300" bIns="76200">
                      <a:noAutofit/>
                    </a:bodyPr>
                    <a:lstStyle/>
                    <a:p>
                      <a:pPr algn="l"/>
                      <a:r>
                        <a:rPr sz="1425" b="0">
                          <a:solidFill>
                            <a:srgbClr val="1B1F3B"/>
                          </a:solidFill>
                          <a:latin typeface="Calibri"/>
                          <a:ea typeface="Calibri"/>
                          <a:cs typeface="Calibri"/>
                        </a:rPr>
                        <a:t>HTML, CSS and JavaScript</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EAF1F6"/>
                    </a:solidFill>
                  </a:tcPr>
                </a:tc>
                <a:tc>
                  <a:txBody>
                    <a:bodyPr lIns="123825" tIns="76200" rIns="114300" bIns="76200">
                      <a:noAutofit/>
                    </a:bodyPr>
                    <a:lstStyle/>
                    <a:p>
                      <a:pPr algn="l"/>
                      <a:r>
                        <a:rPr sz="1425" b="0">
                          <a:solidFill>
                            <a:srgbClr val="1B1F3B"/>
                          </a:solidFill>
                          <a:latin typeface="Calibri"/>
                          <a:ea typeface="Calibri"/>
                          <a:cs typeface="Calibri"/>
                        </a:rPr>
                        <a:t>Form, comparison, batch prediction and CSV export</a:t>
                      </a:r>
                    </a:p>
                  </a:txBody>
                  <a:tcPr marL="91440" marR="91440" marT="45720" marB="45720" anchor="ctr">
                    <a:lnR w="6668">
                      <a:solidFill>
                        <a:srgbClr val="D9E2F0"/>
                      </a:solidFill>
                      <a:prstDash val="solid"/>
                    </a:lnR>
                    <a:lnB w="6668">
                      <a:solidFill>
                        <a:srgbClr val="D9E2F0"/>
                      </a:solidFill>
                      <a:prstDash val="solid"/>
                    </a:lnB>
                    <a:solidFill>
                      <a:srgbClr val="EAF1F6"/>
                    </a:solidFill>
                  </a:tcPr>
                </a:tc>
              </a:tr>
              <a:tr h="428625">
                <a:tc>
                  <a:txBody>
                    <a:bodyPr lIns="123825" tIns="76200" rIns="114300" bIns="76200">
                      <a:noAutofit/>
                    </a:bodyPr>
                    <a:lstStyle/>
                    <a:p>
                      <a:pPr algn="l"/>
                      <a:r>
                        <a:rPr sz="1425" b="0">
                          <a:solidFill>
                            <a:srgbClr val="1B1F3B"/>
                          </a:solidFill>
                          <a:latin typeface="Calibri"/>
                          <a:ea typeface="Calibri"/>
                          <a:cs typeface="Calibri"/>
                        </a:rPr>
                        <a:t>Jupyter notebook</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FFFFFF"/>
                    </a:solidFill>
                  </a:tcPr>
                </a:tc>
                <a:tc>
                  <a:txBody>
                    <a:bodyPr lIns="123825" tIns="76200" rIns="114300" bIns="76200">
                      <a:noAutofit/>
                    </a:bodyPr>
                    <a:lstStyle/>
                    <a:p>
                      <a:pPr algn="l"/>
                      <a:r>
                        <a:rPr sz="1425" b="0">
                          <a:solidFill>
                            <a:srgbClr val="1B1F3B"/>
                          </a:solidFill>
                          <a:latin typeface="Calibri"/>
                          <a:ea typeface="Calibri"/>
                          <a:cs typeface="Calibri"/>
                        </a:rPr>
                        <a:t>Optional walkthrough of data and measured results</a:t>
                      </a:r>
                    </a:p>
                  </a:txBody>
                  <a:tcPr marL="91440" marR="91440" marT="45720" marB="45720" anchor="ctr">
                    <a:lnR w="6668">
                      <a:solidFill>
                        <a:srgbClr val="D9E2F0"/>
                      </a:solidFill>
                      <a:prstDash val="solid"/>
                    </a:lnR>
                    <a:lnB w="6668">
                      <a:solidFill>
                        <a:srgbClr val="D9E2F0"/>
                      </a:solidFill>
                      <a:prstDash val="solid"/>
                    </a:lnB>
                    <a:solidFill>
                      <a:srgbClr val="FFFFFF"/>
                    </a:solidFill>
                  </a:tcPr>
                </a:tc>
              </a:tr>
            </a:tbl>
          </a:graphicData>
        </a:graphic>
      </p:graphicFrame>
    </p:spTree>
    <p:extLst>
      <p:ext uri="{BB962C8B-B14F-4D97-AF65-F5344CB8AC3E}">
        <p14:creationId xmlns:p14="http://schemas.microsoft.com/office/powerpoint/2010/main" val="1778284200"/>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15" name="Google Shape;115;p8">
            <a:extLst xmlns:a="http://schemas.openxmlformats.org/drawingml/2006/main">
              <a:ext uri="{FF2B5EF4-FFF2-40B4-BE49-F238E27FC236}">
                <a16:creationId xmlns:a16="http://schemas.microsoft.com/office/drawing/2014/main" id="{C2EC6790-2318-4038-8262-9975DBF0C69B}"/>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6" name="Google Shape;116;p8">
            <a:extLst xmlns:a="http://schemas.openxmlformats.org/drawingml/2006/main">
              <a:ext uri="{FF2B5EF4-FFF2-40B4-BE49-F238E27FC236}">
                <a16:creationId xmlns:a16="http://schemas.microsoft.com/office/drawing/2014/main" id="{4701ADC6-B747-41FC-A32F-7E84223A26BA}"/>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7" name="Google Shape;117;p8">
            <a:extLst xmlns:a="http://schemas.openxmlformats.org/drawingml/2006/main">
              <a:ext uri="{FF2B5EF4-FFF2-40B4-BE49-F238E27FC236}">
                <a16:creationId xmlns:a16="http://schemas.microsoft.com/office/drawing/2014/main" id="{9779B866-1165-47AA-AD09-B7433BEDD2BB}"/>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8" name="Google Shape;118;p8">
            <a:extLst xmlns:a="http://schemas.openxmlformats.org/drawingml/2006/main">
              <a:ext uri="{FF2B5EF4-FFF2-40B4-BE49-F238E27FC236}">
                <a16:creationId xmlns:a16="http://schemas.microsoft.com/office/drawing/2014/main" id="{B1005DA7-919B-4BE1-BD27-0A5D7FEEE538}"/>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strike="noStrike" cap="none">
                <a:solidFill>
                  <a:srgbClr val="FFFFFF"/>
                </a:solidFill>
                <a:latin typeface="Calibri"/>
                <a:ea typeface="Calibri"/>
                <a:cs typeface="Calibri"/>
              </a:rPr>
              <a:t>05</a:t>
            </a:r>
            <a:endParaRPr sz="1600" b="0" i="0" u="none" strike="noStrike" cap="none">
              <a:solidFill>
                <a:schemeClr val="dk1"/>
              </a:solidFill>
              <a:latin typeface="Calibri"/>
              <a:ea typeface="Calibri"/>
              <a:cs typeface="Calibri"/>
            </a:endParaRPr>
          </a:p>
        </p:txBody>
      </p:sp>
      <p:sp>
        <p:nvSpPr>
          <p:cNvPr id="119" name="Google Shape;119;p8">
            <a:extLst xmlns:a="http://schemas.openxmlformats.org/drawingml/2006/main">
              <a:ext uri="{FF2B5EF4-FFF2-40B4-BE49-F238E27FC236}">
                <a16:creationId xmlns:a16="http://schemas.microsoft.com/office/drawing/2014/main" id="{F2DE927B-7714-4FE9-B372-E3788013EEC0}"/>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strike="noStrike" cap="none">
                <a:solidFill>
                  <a:srgbClr val="1C7293"/>
                </a:solidFill>
                <a:latin typeface="Calibri"/>
                <a:ea typeface="Calibri"/>
                <a:cs typeface="Calibri"/>
              </a:rPr>
              <a:t>SECTION 05</a:t>
            </a:r>
            <a:endParaRPr sz="1100" b="0" i="0" u="none" strike="noStrike" cap="none">
              <a:solidFill>
                <a:schemeClr val="dk1"/>
              </a:solidFill>
              <a:latin typeface="Calibri"/>
              <a:ea typeface="Calibri"/>
              <a:cs typeface="Calibri"/>
            </a:endParaRPr>
          </a:p>
        </p:txBody>
      </p:sp>
      <p:sp>
        <p:nvSpPr>
          <p:cNvPr id="120" name="Google Shape;120;p8">
            <a:extLst xmlns:a="http://schemas.openxmlformats.org/drawingml/2006/main">
              <a:ext uri="{FF2B5EF4-FFF2-40B4-BE49-F238E27FC236}">
                <a16:creationId xmlns:a16="http://schemas.microsoft.com/office/drawing/2014/main" id="{0F9BB378-5ABC-4646-AA0E-0F9794BD778C}"/>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strike="noStrike" cap="none">
                <a:solidFill>
                  <a:srgbClr val="21295C"/>
                </a:solidFill>
                <a:latin typeface="Cambria"/>
                <a:ea typeface="Cambria"/>
                <a:cs typeface="Cambria"/>
              </a:rPr>
              <a:t>Weekly Work Log</a:t>
            </a:r>
            <a:endParaRPr sz="3000" b="0" i="0" u="none" strike="noStrike" cap="none">
              <a:solidFill>
                <a:schemeClr val="dk1"/>
              </a:solidFill>
              <a:latin typeface="Calibri"/>
              <a:ea typeface="Calibri"/>
              <a:cs typeface="Calibri"/>
            </a:endParaRPr>
          </a:p>
        </p:txBody>
      </p:sp>
      <p:graphicFrame>
        <p:nvGraphicFramePr>
          <p:cNvPr id="121" name="Google Shape;121;p8">
            <a:extLst xmlns:a="http://schemas.openxmlformats.org/drawingml/2006/main">
              <a:ext uri="{FF2B5EF4-FFF2-40B4-BE49-F238E27FC236}">
                <a16:creationId xmlns:a16="http://schemas.microsoft.com/office/drawing/2014/main" id="{E860A9DA-1D42-42A7-B484-34E29A188701}"/>
              </a:ext>
            </a:extLst>
          </p:cNvPr>
          <p:cNvGraphicFramePr/>
          <p:nvPr/>
        </p:nvGraphicFramePr>
        <p:xfrm>
          <a:off xmlns:a="http://schemas.openxmlformats.org/drawingml/2006/main" x="1234440" y="1600210"/>
          <a:ext xmlns:a="http://schemas.openxmlformats.org/drawingml/2006/main" cx="3000000" cy="3000000"/>
        </p:xfrm>
        <a:graphic xmlns:a="http://schemas.openxmlformats.org/drawingml/2006/main">
          <a:graphicData uri="http://schemas.openxmlformats.org/drawingml/2006/table">
            <a:tbl>
              <a:tblPr>
                <a:tableStyleId>{0B91DE8E-7D31-4855-8ECD-A43F555BC76C}</a:tableStyleId>
              </a:tblPr>
              <a:tblGrid>
                <a:gridCol w="731525"/>
                <a:gridCol w="4072975"/>
                <a:gridCol w="1779175"/>
                <a:gridCol w="3182250"/>
              </a:tblGrid>
              <a:tr h="411475">
                <a:tc>
                  <a:txBody>
                    <a:bodyPr lIns="95250" tIns="47625" rIns="95250" bIns="47625">
                      <a:noAutofit/>
                    </a:bodyPr>
                    <a:lstStyle/>
                    <a:p>
                      <a:pPr marL="0" marR="0" lvl="0" indent="0" algn="ctr">
                        <a:lnSpc>
                          <a:spcPct val="100000"/>
                        </a:lnSpc>
                        <a:spcBef>
                          <a:spcPts val="0"/>
                        </a:spcBef>
                        <a:spcAft>
                          <a:spcPts val="0"/>
                        </a:spcAft>
                        <a:buClr>
                          <a:srgbClr val="FFFFFF"/>
                        </a:buClr>
                        <a:buSzPts val="1150"/>
                        <a:buFont typeface="Calibri"/>
                        <a:buNone/>
                      </a:pPr>
                      <a:r>
                        <a:rPr sz="1125" b="1" u="none" strike="noStrike" cap="none">
                          <a:solidFill>
                            <a:srgbClr val="FFFFFF"/>
                          </a:solidFill>
                          <a:latin typeface="Calibri"/>
                          <a:ea typeface="Calibri"/>
                          <a:cs typeface="Calibri"/>
                        </a:rPr>
                        <a:t>Week / date</a:t>
                      </a:r>
                      <a:endParaRPr sz="1150" u="none" strike="noStrik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lIns="95250" tIns="47625" rIns="95250" bIns="47625">
                      <a:noAutofit/>
                    </a:bodyPr>
                    <a:lstStyle/>
                    <a:p>
                      <a:pPr marL="0" marR="0" lvl="0" indent="0" algn="l">
                        <a:lnSpc>
                          <a:spcPct val="100000"/>
                        </a:lnSpc>
                        <a:spcBef>
                          <a:spcPts val="0"/>
                        </a:spcBef>
                        <a:spcAft>
                          <a:spcPts val="0"/>
                        </a:spcAft>
                        <a:buClr>
                          <a:srgbClr val="FFFFFF"/>
                        </a:buClr>
                        <a:buSzPts val="1150"/>
                        <a:buFont typeface="Calibri"/>
                        <a:buNone/>
                      </a:pPr>
                      <a:r>
                        <a:rPr sz="1125" b="1" u="none" strike="noStrike" cap="none">
                          <a:solidFill>
                            <a:srgbClr val="FFFFFF"/>
                          </a:solidFill>
                          <a:latin typeface="Calibri"/>
                          <a:ea typeface="Calibri"/>
                          <a:cs typeface="Calibri"/>
                        </a:rPr>
                        <a:t>Tasks / Activities Performed</a:t>
                      </a:r>
                      <a:endParaRPr sz="1150" u="none" strike="noStrik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lIns="95250" tIns="47625" rIns="95250" bIns="47625">
                      <a:noAutofit/>
                    </a:bodyPr>
                    <a:lstStyle/>
                    <a:p>
                      <a:pPr marL="0" marR="0" lvl="0" indent="0" algn="l">
                        <a:lnSpc>
                          <a:spcPct val="100000"/>
                        </a:lnSpc>
                        <a:spcBef>
                          <a:spcPts val="0"/>
                        </a:spcBef>
                        <a:spcAft>
                          <a:spcPts val="0"/>
                        </a:spcAft>
                        <a:buClr>
                          <a:srgbClr val="FFFFFF"/>
                        </a:buClr>
                        <a:buSzPts val="1150"/>
                        <a:buFont typeface="Calibri"/>
                        <a:buNone/>
                      </a:pPr>
                      <a:r>
                        <a:rPr sz="1125" b="1" u="none" strike="noStrike" cap="none">
                          <a:solidFill>
                            <a:srgbClr val="FFFFFF"/>
                          </a:solidFill>
                          <a:latin typeface="Calibri"/>
                          <a:ea typeface="Calibri"/>
                          <a:cs typeface="Calibri"/>
                        </a:rPr>
                        <a:t>Technologies Used</a:t>
                      </a:r>
                      <a:endParaRPr sz="1150" u="none" strike="noStrik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lIns="95250" tIns="47625" rIns="95250" bIns="47625">
                      <a:noAutofit/>
                    </a:bodyPr>
                    <a:lstStyle/>
                    <a:p>
                      <a:pPr marL="0" marR="0" lvl="0" indent="0" algn="l">
                        <a:lnSpc>
                          <a:spcPct val="100000"/>
                        </a:lnSpc>
                        <a:spcBef>
                          <a:spcPts val="0"/>
                        </a:spcBef>
                        <a:spcAft>
                          <a:spcPts val="0"/>
                        </a:spcAft>
                        <a:buClr>
                          <a:srgbClr val="FFFFFF"/>
                        </a:buClr>
                        <a:buSzPts val="1150"/>
                        <a:buFont typeface="Calibri"/>
                        <a:buNone/>
                      </a:pPr>
                      <a:r>
                        <a:rPr sz="1125" b="1" u="none" strike="noStrike" cap="none">
                          <a:solidFill>
                            <a:srgbClr val="FFFFFF"/>
                          </a:solidFill>
                          <a:latin typeface="Calibri"/>
                          <a:ea typeface="Calibri"/>
                          <a:cs typeface="Calibri"/>
                        </a:rPr>
                        <a:t>Learning / Outcome</a:t>
                      </a:r>
                      <a:endParaRPr sz="1150" u="none" strike="noStrik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r>
              <a:tr h="685800">
                <a:tc>
                  <a:txBody>
                    <a:bodyPr lIns="95250" tIns="47625" rIns="95250" bIns="47625">
                      <a:noAutofit/>
                    </a:bodyPr>
                    <a:lstStyle/>
                    <a:p>
                      <a:pPr marL="0" marR="0" lvl="0" indent="0" algn="ctr">
                        <a:lnSpc>
                          <a:spcPct val="100000"/>
                        </a:lnSpc>
                        <a:spcBef>
                          <a:spcPts val="0"/>
                        </a:spcBef>
                        <a:spcAft>
                          <a:spcPts val="0"/>
                        </a:spcAft>
                        <a:buClr>
                          <a:srgbClr val="1B1F3B"/>
                        </a:buClr>
                        <a:buSzPts val="1100"/>
                        <a:buFont typeface="Calibri"/>
                        <a:buNone/>
                      </a:pPr>
                      <a:r>
                        <a:rPr sz="1200" b="0" i="0" u="none" strike="noStrike" cap="none">
                          <a:solidFill>
                            <a:srgbClr val="1B1F3B"/>
                          </a:solidFill>
                          <a:latin typeface="Calibri"/>
                          <a:ea typeface="Calibri"/>
                          <a:cs typeface="Calibri"/>
                        </a:rPr>
                        <a:t>[Date]</a:t>
                      </a:r>
                      <a:endParaRPr sz="1100" u="none" strike="noStrik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marR="0" lvl="0" indent="0" algn="l">
                        <a:lnSpc>
                          <a:spcPct val="100000"/>
                        </a:lnSpc>
                        <a:spcBef>
                          <a:spcPts val="0"/>
                        </a:spcBef>
                        <a:spcAft>
                          <a:spcPts val="0"/>
                        </a:spcAft>
                        <a:buClr>
                          <a:srgbClr val="1B1F3B"/>
                        </a:buClr>
                        <a:buSzPts val="1100"/>
                        <a:buFont typeface="Calibri"/>
                        <a:buNone/>
                      </a:pPr>
                      <a:r>
                        <a:rPr sz="1200" b="0" i="0" u="none" strike="noStrike" cap="none">
                          <a:solidFill>
                            <a:srgbClr val="1B1F3B"/>
                          </a:solidFill>
                          <a:latin typeface="Calibri"/>
                          <a:ea typeface="Calibri"/>
                          <a:cs typeface="Calibri"/>
                        </a:rPr>
                        <a:t>Define target, inspect dataset and preserve raw CSV</a:t>
                      </a:r>
                      <a:endParaRPr sz="1100" u="none" strike="noStrik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marR="0" lvl="0" indent="0" algn="l">
                        <a:lnSpc>
                          <a:spcPct val="100000"/>
                        </a:lnSpc>
                        <a:spcBef>
                          <a:spcPts val="0"/>
                        </a:spcBef>
                        <a:spcAft>
                          <a:spcPts val="0"/>
                        </a:spcAft>
                        <a:buClr>
                          <a:srgbClr val="1B1F3B"/>
                        </a:buClr>
                        <a:buSzPts val="1100"/>
                        <a:buFont typeface="Calibri"/>
                        <a:buNone/>
                      </a:pPr>
                      <a:r>
                        <a:rPr sz="1200" b="0" i="0" u="none" strike="noStrike" cap="none">
                          <a:solidFill>
                            <a:srgbClr val="1B1F3B"/>
                          </a:solidFill>
                          <a:latin typeface="Calibri"/>
                          <a:ea typeface="Calibri"/>
                          <a:cs typeface="Calibri"/>
                        </a:rPr>
                        <a:t>Python, pandas</a:t>
                      </a:r>
                      <a:endParaRPr sz="1100" u="none" strike="noStrik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marR="0" lvl="0" indent="0" algn="l">
                        <a:lnSpc>
                          <a:spcPct val="100000"/>
                        </a:lnSpc>
                        <a:spcBef>
                          <a:spcPts val="0"/>
                        </a:spcBef>
                        <a:spcAft>
                          <a:spcPts val="0"/>
                        </a:spcAft>
                        <a:buClr>
                          <a:srgbClr val="1B1F3B"/>
                        </a:buClr>
                        <a:buSzPts val="1100"/>
                        <a:buFont typeface="Calibri"/>
                        <a:buNone/>
                      </a:pPr>
                      <a:r>
                        <a:rPr sz="1200" b="0" i="0" u="none" strike="noStrike" cap="none">
                          <a:solidFill>
                            <a:srgbClr val="1B1F3B"/>
                          </a:solidFill>
                          <a:latin typeface="Calibri"/>
                          <a:ea typeface="Calibri"/>
                          <a:cs typeface="Calibri"/>
                        </a:rPr>
                        <a:t>Regression problem and data provenance</a:t>
                      </a:r>
                      <a:endParaRPr sz="1100" u="none" strike="noStrik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r>
              <a:tr h="685800">
                <a:tc>
                  <a:txBody>
                    <a:bodyPr lIns="95250" tIns="47625" rIns="95250" bIns="47625">
                      <a:noAutofit/>
                    </a:bodyPr>
                    <a:lstStyle/>
                    <a:p>
                      <a:pPr marL="0" lvl="0" indent="0" algn="ctr">
                        <a:spcBef>
                          <a:spcPts val="0"/>
                        </a:spcBef>
                        <a:spcAft>
                          <a:spcPts val="0"/>
                        </a:spcAft>
                        <a:buNone/>
                      </a:pPr>
                      <a:r>
                        <a:rPr sz="1200" b="0">
                          <a:solidFill>
                            <a:srgbClr val="1B1F3B"/>
                          </a:solidFill>
                          <a:latin typeface="Calibri"/>
                          <a:ea typeface="Calibri"/>
                          <a:cs typeface="Calibri"/>
                        </a:rPr>
                        <a:t>[Date]</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Remove duplicate and validate six input features</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pandas, NumPy</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Data audit and input schema</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r>
              <a:tr h="685800">
                <a:tc>
                  <a:txBody>
                    <a:bodyPr lIns="95250" tIns="47625" rIns="95250" bIns="47625">
                      <a:noAutofit/>
                    </a:bodyPr>
                    <a:lstStyle/>
                    <a:p>
                      <a:pPr marL="0" lvl="0" indent="0" algn="ctr">
                        <a:spcBef>
                          <a:spcPts val="0"/>
                        </a:spcBef>
                        <a:spcAft>
                          <a:spcPts val="0"/>
                        </a:spcAft>
                        <a:buNone/>
                      </a:pPr>
                      <a:r>
                        <a:rPr sz="1200" b="0">
                          <a:solidFill>
                            <a:srgbClr val="1B1F3B"/>
                          </a:solidFill>
                          <a:latin typeface="Calibri"/>
                          <a:ea typeface="Calibri"/>
                          <a:cs typeface="Calibri"/>
                        </a:rPr>
                        <a:t>[Date]</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Build pipelines and compare four approaches</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scikit-learn</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Encoding and cross-validation</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r>
              <a:tr h="685800">
                <a:tc>
                  <a:txBody>
                    <a:bodyPr lIns="95250" tIns="47625" rIns="95250" bIns="47625">
                      <a:noAutofit/>
                    </a:bodyPr>
                    <a:lstStyle/>
                    <a:p>
                      <a:pPr marL="0" lvl="0" indent="0" algn="ctr">
                        <a:spcBef>
                          <a:spcPts val="0"/>
                        </a:spcBef>
                        <a:spcAft>
                          <a:spcPts val="0"/>
                        </a:spcAft>
                        <a:buNone/>
                      </a:pPr>
                      <a:r>
                        <a:rPr sz="1200" b="0">
                          <a:solidFill>
                            <a:srgbClr val="1B1F3B"/>
                          </a:solidFill>
                          <a:latin typeface="Calibri"/>
                          <a:ea typeface="Calibri"/>
                          <a:cs typeface="Calibri"/>
                        </a:rPr>
                        <a:t>[Date]</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Evaluate selected model on held-out records</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scikit-learn, Matplotlib</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MAE, RMSE, R² and error analysis</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r>
              <a:tr h="685800">
                <a:tc>
                  <a:txBody>
                    <a:bodyPr lIns="95250" tIns="47625" rIns="95250" bIns="47625">
                      <a:noAutofit/>
                    </a:bodyPr>
                    <a:lstStyle/>
                    <a:p>
                      <a:pPr marL="0" lvl="0" indent="0" algn="ctr">
                        <a:spcBef>
                          <a:spcPts val="0"/>
                        </a:spcBef>
                        <a:spcAft>
                          <a:spcPts val="0"/>
                        </a:spcAft>
                        <a:buNone/>
                      </a:pPr>
                      <a:r>
                        <a:rPr sz="1200" b="0">
                          <a:solidFill>
                            <a:srgbClr val="1B1F3B"/>
                          </a:solidFill>
                          <a:latin typeface="Calibri"/>
                          <a:ea typeface="Calibri"/>
                          <a:cs typeface="Calibri"/>
                        </a:rPr>
                        <a:t>[Date]</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Implement form, comparison and batch predictions</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HTML, CSS, JS, Python</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Connect model inference to an interface</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r>
              <a:tr h="685800">
                <a:tc>
                  <a:txBody>
                    <a:bodyPr lIns="95250" tIns="47625" rIns="95250" bIns="47625">
                      <a:noAutofit/>
                    </a:bodyPr>
                    <a:lstStyle/>
                    <a:p>
                      <a:pPr marL="0" lvl="0" indent="0" algn="ctr">
                        <a:spcBef>
                          <a:spcPts val="0"/>
                        </a:spcBef>
                        <a:spcAft>
                          <a:spcPts val="0"/>
                        </a:spcAft>
                        <a:buNone/>
                      </a:pPr>
                      <a:r>
                        <a:rPr sz="1200" b="0">
                          <a:solidFill>
                            <a:srgbClr val="1B1F3B"/>
                          </a:solidFill>
                          <a:latin typeface="Calibri"/>
                          <a:ea typeface="Calibri"/>
                          <a:cs typeface="Calibri"/>
                        </a:rPr>
                        <a:t>[Date]</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Verify results and prepare documentation</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Python, Jupyter</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lIns="95250" tIns="47625" rIns="95250" bIns="47625">
                      <a:noAutofit/>
                    </a:bodyPr>
                    <a:lstStyle/>
                    <a:p>
                      <a:pPr marL="0" lvl="0" indent="0" algn="l">
                        <a:spcBef>
                          <a:spcPts val="0"/>
                        </a:spcBef>
                        <a:spcAft>
                          <a:spcPts val="0"/>
                        </a:spcAft>
                        <a:buNone/>
                      </a:pPr>
                      <a:r>
                        <a:rPr sz="1200" b="0">
                          <a:solidFill>
                            <a:srgbClr val="1B1F3B"/>
                          </a:solidFill>
                          <a:latin typeface="Calibri"/>
                          <a:ea typeface="Calibri"/>
                          <a:cs typeface="Calibri"/>
                        </a:rPr>
                        <a:t>Reproducibility and evaluation demo</a:t>
                      </a:r>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r>
            </a:tbl>
          </a:graphicData>
        </a:graphic>
      </p:graphicFrame>
      <p:sp>
        <p:nvSpPr>
          <p:cNvPr id="122" name="Google Shape;122;p8">
            <a:extLst xmlns:a="http://schemas.openxmlformats.org/drawingml/2006/main">
              <a:ext uri="{FF2B5EF4-FFF2-40B4-BE49-F238E27FC236}">
                <a16:creationId xmlns:a16="http://schemas.microsoft.com/office/drawing/2014/main" id="{E00EDAD8-9CB5-4727-8D16-C7BCA3548D36}"/>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B.TECH SUMMER INTERNSHIP PRESENTATION  ·  LLOYD INSTITUTE OF ENGINEERING &amp; TECHNOLOGY</a:t>
            </a:r>
            <a:endParaRPr sz="900" b="0" i="0" u="none" strike="noStrike" cap="none">
              <a:solidFill>
                <a:schemeClr val="dk1"/>
              </a:solidFill>
              <a:latin typeface="Calibri"/>
              <a:ea typeface="Calibri"/>
              <a:cs typeface="Calibri"/>
            </a:endParaRPr>
          </a:p>
        </p:txBody>
      </p:sp>
      <p:sp>
        <p:nvSpPr>
          <p:cNvPr id="123" name="Google Shape;123;p8">
            <a:extLst xmlns:a="http://schemas.openxmlformats.org/drawingml/2006/main">
              <a:ext uri="{FF2B5EF4-FFF2-40B4-BE49-F238E27FC236}">
                <a16:creationId xmlns:a16="http://schemas.microsoft.com/office/drawing/2014/main" id="{519BCB07-9F03-4B21-AB76-597BAC3A0E3E}"/>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6</a:t>
            </a:r>
            <a:endParaRPr sz="900" b="0" i="0" u="none" strike="noStrike" cap="none">
              <a:solidFill>
                <a:schemeClr val="dk1"/>
              </a:solidFill>
              <a:latin typeface="Calibri"/>
              <a:ea typeface="Calibri"/>
              <a:cs typeface="Calibri"/>
            </a:endParaRPr>
          </a:p>
        </p:txBody>
      </p:sp>
      <p:sp>
        <p:nvSpPr>
          <p:cNvPr id="124" name="">
            <a:extLst xmlns:a="http://schemas.openxmlformats.org/drawingml/2006/main">
              <a:ext uri="{FF2B5EF4-FFF2-40B4-BE49-F238E27FC236}">
                <a16:creationId xmlns:a16="http://schemas.microsoft.com/office/drawing/2014/main" id="{257D1030-0F32-4DCA-8036-3D2E0E49B7AF}"/>
              </a:ext>
            </a:extLst>
          </p:cNvPr>
          <p:cNvSpPr>
            <a:spLocks xmlns:a="http://schemas.openxmlformats.org/drawingml/2006/main" noGrp="1"/>
          </p:cNvSpPr>
          <p:nvPr/>
        </p:nvSpPr>
        <p:spPr>
          <a:xfrm xmlns:a="http://schemas.openxmlformats.org/drawingml/2006/main">
            <a:off x="1257300" y="6181725"/>
            <a:ext cx="969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6B7593"/>
                </a:solidFill>
                <a:latin typeface="Calibri"/>
                <a:ea typeface="Calibri"/>
                <a:cs typeface="Calibri"/>
              </a:defRPr>
            </a:defPPr>
            <a:lvl1pPr algn="l">
              <a:defRPr sz="1050" b="0">
                <a:solidFill>
                  <a:srgbClr val="6B7593"/>
                </a:solidFill>
                <a:latin typeface="Calibri"/>
                <a:ea typeface="Calibri"/>
                <a:cs typeface="Calibri"/>
              </a:defRPr>
            </a:lvl1pPr>
            <a:lvl2pPr algn="l">
              <a:defRPr sz="1050" b="0">
                <a:solidFill>
                  <a:srgbClr val="6B7593"/>
                </a:solidFill>
                <a:latin typeface="Calibri"/>
                <a:ea typeface="Calibri"/>
                <a:cs typeface="Calibri"/>
              </a:defRPr>
            </a:lvl2pPr>
            <a:lvl3pPr algn="l">
              <a:defRPr sz="1050" b="0">
                <a:solidFill>
                  <a:srgbClr val="6B7593"/>
                </a:solidFill>
                <a:latin typeface="Calibri"/>
                <a:ea typeface="Calibri"/>
                <a:cs typeface="Calibri"/>
              </a:defRPr>
            </a:lvl3pPr>
            <a:lvl4pPr algn="l">
              <a:defRPr sz="1050" b="0">
                <a:solidFill>
                  <a:srgbClr val="6B7593"/>
                </a:solidFill>
                <a:latin typeface="Calibri"/>
                <a:ea typeface="Calibri"/>
                <a:cs typeface="Calibri"/>
              </a:defRPr>
            </a:lvl4pPr>
            <a:lvl5pPr algn="l">
              <a:defRPr sz="1050" b="0">
                <a:solidFill>
                  <a:srgbClr val="6B7593"/>
                </a:solidFill>
                <a:latin typeface="Calibri"/>
                <a:ea typeface="Calibri"/>
                <a:cs typeface="Calibri"/>
              </a:defRPr>
            </a:lvl5pPr>
            <a:lvl6pPr algn="l">
              <a:defRPr sz="1050" b="0">
                <a:solidFill>
                  <a:srgbClr val="6B7593"/>
                </a:solidFill>
                <a:latin typeface="Calibri"/>
                <a:ea typeface="Calibri"/>
                <a:cs typeface="Calibri"/>
              </a:defRPr>
            </a:lvl6pPr>
            <a:lvl7pPr algn="l">
              <a:defRPr sz="1050" b="0">
                <a:solidFill>
                  <a:srgbClr val="6B7593"/>
                </a:solidFill>
                <a:latin typeface="Calibri"/>
                <a:ea typeface="Calibri"/>
                <a:cs typeface="Calibri"/>
              </a:defRPr>
            </a:lvl7pPr>
            <a:lvl8pPr algn="l">
              <a:defRPr sz="1050" b="0">
                <a:solidFill>
                  <a:srgbClr val="6B7593"/>
                </a:solidFill>
                <a:latin typeface="Calibri"/>
                <a:ea typeface="Calibri"/>
                <a:cs typeface="Calibri"/>
              </a:defRPr>
            </a:lvl8pPr>
            <a:lvl9pPr algn="l">
              <a:defRPr sz="1050" b="0">
                <a:solidFill>
                  <a:srgbClr val="6B7593"/>
                </a:solidFill>
                <a:latin typeface="Calibri"/>
                <a:ea typeface="Calibri"/>
                <a:cs typeface="Calibri"/>
              </a:defRPr>
            </a:lvl9pPr>
          </a:lstStyle>
          <a:p xmlns:a="http://schemas.openxmlformats.org/drawingml/2006/main">
            <a:pPr algn="l">
              <a:defRPr sz="1050" b="0">
                <a:solidFill>
                  <a:srgbClr val="6B7593"/>
                </a:solidFill>
                <a:latin typeface="Calibri"/>
                <a:ea typeface="Calibri"/>
                <a:cs typeface="Calibri"/>
              </a:defRPr>
            </a:pPr>
            <a:r>
              <a:rPr sz="1050" b="0">
                <a:solidFill>
                  <a:srgbClr val="6B7593"/>
                </a:solidFill>
                <a:latin typeface="Calibri"/>
                <a:ea typeface="Calibri"/>
                <a:cs typeface="Calibri"/>
              </a:rPr>
              <a:t>Activities appear in project order. Confirm calendar weeks using the actual internship diary.</a:t>
            </a:r>
          </a:p>
        </p:txBody>
      </p:sp>
    </p:spTree>
    <p:extLst>
      <p:ext uri="{BB962C8B-B14F-4D97-AF65-F5344CB8AC3E}">
        <p14:creationId xmlns:p14="http://schemas.microsoft.com/office/powerpoint/2010/main" val="1418432256"/>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9" name="Google Shape;129;p9">
            <a:extLst xmlns:a="http://schemas.openxmlformats.org/drawingml/2006/main">
              <a:ext uri="{FF2B5EF4-FFF2-40B4-BE49-F238E27FC236}">
                <a16:creationId xmlns:a16="http://schemas.microsoft.com/office/drawing/2014/main" id="{A048D78F-AC13-4D01-801C-22958891D12B}"/>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30" name="Google Shape;130;p9">
            <a:extLst xmlns:a="http://schemas.openxmlformats.org/drawingml/2006/main">
              <a:ext uri="{FF2B5EF4-FFF2-40B4-BE49-F238E27FC236}">
                <a16:creationId xmlns:a16="http://schemas.microsoft.com/office/drawing/2014/main" id="{23992EA2-A954-4F82-AC01-5EDBBE174AEF}"/>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31" name="Google Shape;131;p9">
            <a:extLst xmlns:a="http://schemas.openxmlformats.org/drawingml/2006/main">
              <a:ext uri="{FF2B5EF4-FFF2-40B4-BE49-F238E27FC236}">
                <a16:creationId xmlns:a16="http://schemas.microsoft.com/office/drawing/2014/main" id="{0A91D3AF-7850-41B4-BE1A-F6EA40FC0617}"/>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32" name="Google Shape;132;p9">
            <a:extLst xmlns:a="http://schemas.openxmlformats.org/drawingml/2006/main">
              <a:ext uri="{FF2B5EF4-FFF2-40B4-BE49-F238E27FC236}">
                <a16:creationId xmlns:a16="http://schemas.microsoft.com/office/drawing/2014/main" id="{9BAB35BC-0934-4D39-8C6A-B3830B91A22E}"/>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strike="noStrike" cap="none">
                <a:solidFill>
                  <a:srgbClr val="FFFFFF"/>
                </a:solidFill>
                <a:latin typeface="Calibri"/>
                <a:ea typeface="Calibri"/>
                <a:cs typeface="Calibri"/>
              </a:rPr>
              <a:t>06</a:t>
            </a:r>
            <a:endParaRPr sz="1600" b="0" i="0" u="none" strike="noStrike" cap="none">
              <a:solidFill>
                <a:schemeClr val="dk1"/>
              </a:solidFill>
              <a:latin typeface="Calibri"/>
              <a:ea typeface="Calibri"/>
              <a:cs typeface="Calibri"/>
            </a:endParaRPr>
          </a:p>
        </p:txBody>
      </p:sp>
      <p:sp>
        <p:nvSpPr>
          <p:cNvPr id="133" name="Google Shape;133;p9">
            <a:extLst xmlns:a="http://schemas.openxmlformats.org/drawingml/2006/main">
              <a:ext uri="{FF2B5EF4-FFF2-40B4-BE49-F238E27FC236}">
                <a16:creationId xmlns:a16="http://schemas.microsoft.com/office/drawing/2014/main" id="{72C96010-861B-42CB-9947-147A570D4815}"/>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strike="noStrike" cap="none">
                <a:solidFill>
                  <a:srgbClr val="1C7293"/>
                </a:solidFill>
                <a:latin typeface="Calibri"/>
                <a:ea typeface="Calibri"/>
                <a:cs typeface="Calibri"/>
              </a:rPr>
              <a:t>SECTION 06</a:t>
            </a:r>
            <a:endParaRPr sz="1100" b="0" i="0" u="none" strike="noStrike" cap="none">
              <a:solidFill>
                <a:schemeClr val="dk1"/>
              </a:solidFill>
              <a:latin typeface="Calibri"/>
              <a:ea typeface="Calibri"/>
              <a:cs typeface="Calibri"/>
            </a:endParaRPr>
          </a:p>
        </p:txBody>
      </p:sp>
      <p:sp>
        <p:nvSpPr>
          <p:cNvPr id="134" name="Google Shape;134;p9">
            <a:extLst xmlns:a="http://schemas.openxmlformats.org/drawingml/2006/main">
              <a:ext uri="{FF2B5EF4-FFF2-40B4-BE49-F238E27FC236}">
                <a16:creationId xmlns:a16="http://schemas.microsoft.com/office/drawing/2014/main" id="{C785A3C0-C68C-4926-800A-5074B6755BCD}"/>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strike="noStrike" cap="none">
                <a:solidFill>
                  <a:srgbClr val="21295C"/>
                </a:solidFill>
                <a:latin typeface="Cambria"/>
                <a:ea typeface="Cambria"/>
                <a:cs typeface="Cambria"/>
              </a:rPr>
              <a:t>Work Done: Workflow and Results</a:t>
            </a:r>
            <a:endParaRPr sz="3000" b="0" i="0" u="none" strike="noStrike" cap="none">
              <a:solidFill>
                <a:schemeClr val="dk1"/>
              </a:solidFill>
              <a:latin typeface="Calibri"/>
              <a:ea typeface="Calibri"/>
              <a:cs typeface="Calibri"/>
            </a:endParaRPr>
          </a:p>
        </p:txBody>
      </p:sp>
      <p:sp>
        <p:nvSpPr>
          <p:cNvPr id="135" name="Google Shape;135;p9">
            <a:extLst xmlns:a="http://schemas.openxmlformats.org/drawingml/2006/main">
              <a:ext uri="{FF2B5EF4-FFF2-40B4-BE49-F238E27FC236}">
                <a16:creationId xmlns:a16="http://schemas.microsoft.com/office/drawing/2014/main" id="{819A1853-6385-47FC-874E-5ACC87F9C40A}"/>
              </a:ext>
            </a:extLst>
          </p:cNvPr>
          <p:cNvSpPr>
            <a:spLocks xmlns:a="http://schemas.openxmlformats.org/drawingml/2006/main" noGrp="1"/>
          </p:cNvSpPr>
          <p:nvPr/>
        </p:nvSpPr>
        <p:spPr>
          <a:xfrm xmlns:a="http://schemas.openxmlformats.org/drawingml/2006/main">
            <a:off x="1234450" y="1517488"/>
            <a:ext cx="9692700" cy="4668000"/>
          </a:xfrm>
          <a:prstGeom xmlns:a="http://schemas.openxmlformats.org/drawingml/2006/main" prst="roundRect">
            <a:avLst>
              <a:gd name="adj" fmla="val 2198"/>
            </a:avLst>
          </a:prstGeom>
          <a:solidFill xmlns:a="http://schemas.openxmlformats.org/drawingml/2006/main">
            <a:srgbClr val="FFFFFF"/>
          </a:solidFill>
          <a:ln xmlns:a="http://schemas.openxmlformats.org/drawingml/2006/main" w="15875" cap="flat" cmpd="sng">
            <a:solidFill>
              <a:srgbClr val="DEE4EF"/>
            </a:solidFill>
            <a:prstDash val="dash"/>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37" name="Google Shape;137;p9">
            <a:extLst xmlns:a="http://schemas.openxmlformats.org/drawingml/2006/main">
              <a:ext uri="{FF2B5EF4-FFF2-40B4-BE49-F238E27FC236}">
                <a16:creationId xmlns:a16="http://schemas.microsoft.com/office/drawing/2014/main" id="{549B7D5A-65BD-4EF7-91C8-D8033597086A}"/>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B.TECH SUMMER INTERNSHIP PRESENTATION  ·  LLOYD INSTITUTE OF ENGINEERING &amp; TECHNOLOGY</a:t>
            </a:r>
            <a:endParaRPr sz="900" b="0" i="0" u="none" strike="noStrike" cap="none">
              <a:solidFill>
                <a:schemeClr val="dk1"/>
              </a:solidFill>
              <a:latin typeface="Calibri"/>
              <a:ea typeface="Calibri"/>
              <a:cs typeface="Calibri"/>
            </a:endParaRPr>
          </a:p>
        </p:txBody>
      </p:sp>
      <p:sp>
        <p:nvSpPr>
          <p:cNvPr id="138" name="Google Shape;138;p9">
            <a:extLst xmlns:a="http://schemas.openxmlformats.org/drawingml/2006/main">
              <a:ext uri="{FF2B5EF4-FFF2-40B4-BE49-F238E27FC236}">
                <a16:creationId xmlns:a16="http://schemas.microsoft.com/office/drawing/2014/main" id="{4617E4BA-E2C2-4963-A0DD-316B8EA835DA}"/>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7</a:t>
            </a:r>
            <a:endParaRPr sz="900" b="0" i="0" u="none" strike="noStrike" cap="none">
              <a:solidFill>
                <a:schemeClr val="dk1"/>
              </a:solidFill>
              <a:latin typeface="Calibri"/>
              <a:ea typeface="Calibri"/>
              <a:cs typeface="Calibri"/>
            </a:endParaRPr>
          </a:p>
        </p:txBody>
      </p:sp>
      <p:pic>
        <p:nvPicPr>
          <p:cNvPr id="139" name="">
            <a:extLst xmlns:a="http://schemas.openxmlformats.org/drawingml/2006/main">
              <a:ext uri="{FF2B5EF4-FFF2-40B4-BE49-F238E27FC236}">
                <a16:creationId xmlns:a16="http://schemas.microsoft.com/office/drawing/2014/main" id="{FDB89360-9042-46DF-902A-F30420613271}"/>
              </a:ext>
            </a:extLst>
          </p:cNvPr>
          <p:cNvPicPr>
            <a:picLocks xmlns:a="http://schemas.openxmlformats.org/drawingml/2006/main" noChangeAspect="1"/>
          </p:cNvPicPr>
          <p:nvPr/>
        </p:nvPicPr>
        <p:blipFill>
          <a:blip xmlns:r="http://schemas.openxmlformats.org/officeDocument/2006/relationships" xmlns:a="http://schemas.openxmlformats.org/drawingml/2006/main" r:embed="Reeb3b8002e184598"/>
          <a:stretch xmlns:a="http://schemas.openxmlformats.org/drawingml/2006/main"/>
        </p:blipFill>
        <p:spPr>
          <a:xfrm xmlns:a="http://schemas.openxmlformats.org/drawingml/2006/main">
            <a:off x="1485900" y="1824702"/>
            <a:ext cx="2743200" cy="3837246"/>
          </a:xfrm>
          <a:prstGeom xmlns:a="http://schemas.openxmlformats.org/drawingml/2006/main" prst="rect">
            <a:avLst/>
          </a:prstGeom>
        </p:spPr>
      </p:pic>
      <p:sp>
        <p:nvSpPr>
          <p:cNvPr id="140" name="">
            <a:extLst xmlns:a="http://schemas.openxmlformats.org/drawingml/2006/main">
              <a:ext uri="{FF2B5EF4-FFF2-40B4-BE49-F238E27FC236}">
                <a16:creationId xmlns:a16="http://schemas.microsoft.com/office/drawing/2014/main" id="{F91DDC1B-0BEB-4999-A91F-300A495A7240}"/>
              </a:ext>
            </a:extLst>
          </p:cNvPr>
          <p:cNvSpPr>
            <a:spLocks xmlns:a="http://schemas.openxmlformats.org/drawingml/2006/main" noGrp="1"/>
          </p:cNvSpPr>
          <p:nvPr/>
        </p:nvSpPr>
        <p:spPr>
          <a:xfrm xmlns:a="http://schemas.openxmlformats.org/drawingml/2006/main">
            <a:off x="4524375" y="176212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21295C"/>
                </a:solidFill>
                <a:latin typeface="Calibri"/>
                <a:ea typeface="Calibri"/>
                <a:cs typeface="Calibri"/>
              </a:defRPr>
            </a:defPPr>
            <a:lvl1pPr algn="l">
              <a:defRPr sz="1875" b="1">
                <a:solidFill>
                  <a:srgbClr val="21295C"/>
                </a:solidFill>
                <a:latin typeface="Calibri"/>
                <a:ea typeface="Calibri"/>
                <a:cs typeface="Calibri"/>
              </a:defRPr>
            </a:lvl1pPr>
            <a:lvl2pPr algn="l">
              <a:defRPr sz="1875" b="1">
                <a:solidFill>
                  <a:srgbClr val="21295C"/>
                </a:solidFill>
                <a:latin typeface="Calibri"/>
                <a:ea typeface="Calibri"/>
                <a:cs typeface="Calibri"/>
              </a:defRPr>
            </a:lvl2pPr>
            <a:lvl3pPr algn="l">
              <a:defRPr sz="1875" b="1">
                <a:solidFill>
                  <a:srgbClr val="21295C"/>
                </a:solidFill>
                <a:latin typeface="Calibri"/>
                <a:ea typeface="Calibri"/>
                <a:cs typeface="Calibri"/>
              </a:defRPr>
            </a:lvl3pPr>
            <a:lvl4pPr algn="l">
              <a:defRPr sz="1875" b="1">
                <a:solidFill>
                  <a:srgbClr val="21295C"/>
                </a:solidFill>
                <a:latin typeface="Calibri"/>
                <a:ea typeface="Calibri"/>
                <a:cs typeface="Calibri"/>
              </a:defRPr>
            </a:lvl4pPr>
            <a:lvl5pPr algn="l">
              <a:defRPr sz="1875" b="1">
                <a:solidFill>
                  <a:srgbClr val="21295C"/>
                </a:solidFill>
                <a:latin typeface="Calibri"/>
                <a:ea typeface="Calibri"/>
                <a:cs typeface="Calibri"/>
              </a:defRPr>
            </a:lvl5pPr>
            <a:lvl6pPr algn="l">
              <a:defRPr sz="1875" b="1">
                <a:solidFill>
                  <a:srgbClr val="21295C"/>
                </a:solidFill>
                <a:latin typeface="Calibri"/>
                <a:ea typeface="Calibri"/>
                <a:cs typeface="Calibri"/>
              </a:defRPr>
            </a:lvl6pPr>
            <a:lvl7pPr algn="l">
              <a:defRPr sz="1875" b="1">
                <a:solidFill>
                  <a:srgbClr val="21295C"/>
                </a:solidFill>
                <a:latin typeface="Calibri"/>
                <a:ea typeface="Calibri"/>
                <a:cs typeface="Calibri"/>
              </a:defRPr>
            </a:lvl7pPr>
            <a:lvl8pPr algn="l">
              <a:defRPr sz="1875" b="1">
                <a:solidFill>
                  <a:srgbClr val="21295C"/>
                </a:solidFill>
                <a:latin typeface="Calibri"/>
                <a:ea typeface="Calibri"/>
                <a:cs typeface="Calibri"/>
              </a:defRPr>
            </a:lvl8pPr>
            <a:lvl9pPr algn="l">
              <a:defRPr sz="1875" b="1">
                <a:solidFill>
                  <a:srgbClr val="21295C"/>
                </a:solidFill>
                <a:latin typeface="Calibri"/>
                <a:ea typeface="Calibri"/>
                <a:cs typeface="Calibri"/>
              </a:defRPr>
            </a:lvl9pPr>
          </a:lstStyle>
          <a:p xmlns:a="http://schemas.openxmlformats.org/drawingml/2006/main">
            <a:pPr algn="l">
              <a:defRPr sz="1875" b="1">
                <a:solidFill>
                  <a:srgbClr val="21295C"/>
                </a:solidFill>
                <a:latin typeface="Calibri"/>
                <a:ea typeface="Calibri"/>
                <a:cs typeface="Calibri"/>
              </a:defRPr>
            </a:pPr>
            <a:r>
              <a:rPr sz="1875" b="1">
                <a:solidFill>
                  <a:srgbClr val="21295C"/>
                </a:solidFill>
                <a:latin typeface="Calibri"/>
                <a:ea typeface="Calibri"/>
                <a:cs typeface="Calibri"/>
              </a:rPr>
              <a:t>Model workflow</a:t>
            </a:r>
          </a:p>
        </p:txBody>
      </p:sp>
      <p:sp>
        <p:nvSpPr>
          <p:cNvPr id="141" name="">
            <a:extLst xmlns:a="http://schemas.openxmlformats.org/drawingml/2006/main">
              <a:ext uri="{FF2B5EF4-FFF2-40B4-BE49-F238E27FC236}">
                <a16:creationId xmlns:a16="http://schemas.microsoft.com/office/drawing/2014/main" id="{D14D2A6E-3135-41F0-9846-6C760CB141CE}"/>
              </a:ext>
            </a:extLst>
          </p:cNvPr>
          <p:cNvSpPr>
            <a:spLocks xmlns:a="http://schemas.openxmlformats.org/drawingml/2006/main" noGrp="1"/>
          </p:cNvSpPr>
          <p:nvPr/>
        </p:nvSpPr>
        <p:spPr>
          <a:xfrm xmlns:a="http://schemas.openxmlformats.org/drawingml/2006/main">
            <a:off x="4524375" y="2200275"/>
            <a:ext cx="604837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21295C"/>
                </a:solidFill>
                <a:latin typeface="Calibri"/>
                <a:ea typeface="Calibri"/>
                <a:cs typeface="Calibri"/>
              </a:defRPr>
            </a:defPPr>
            <a:lvl1pPr algn="l">
              <a:defRPr sz="1575" b="0">
                <a:solidFill>
                  <a:srgbClr val="21295C"/>
                </a:solidFill>
                <a:latin typeface="Calibri"/>
                <a:ea typeface="Calibri"/>
                <a:cs typeface="Calibri"/>
              </a:defRPr>
            </a:lvl1pPr>
            <a:lvl2pPr algn="l">
              <a:defRPr sz="1575" b="0">
                <a:solidFill>
                  <a:srgbClr val="21295C"/>
                </a:solidFill>
                <a:latin typeface="Calibri"/>
                <a:ea typeface="Calibri"/>
                <a:cs typeface="Calibri"/>
              </a:defRPr>
            </a:lvl2pPr>
            <a:lvl3pPr algn="l">
              <a:defRPr sz="1575" b="0">
                <a:solidFill>
                  <a:srgbClr val="21295C"/>
                </a:solidFill>
                <a:latin typeface="Calibri"/>
                <a:ea typeface="Calibri"/>
                <a:cs typeface="Calibri"/>
              </a:defRPr>
            </a:lvl3pPr>
            <a:lvl4pPr algn="l">
              <a:defRPr sz="1575" b="0">
                <a:solidFill>
                  <a:srgbClr val="21295C"/>
                </a:solidFill>
                <a:latin typeface="Calibri"/>
                <a:ea typeface="Calibri"/>
                <a:cs typeface="Calibri"/>
              </a:defRPr>
            </a:lvl4pPr>
            <a:lvl5pPr algn="l">
              <a:defRPr sz="1575" b="0">
                <a:solidFill>
                  <a:srgbClr val="21295C"/>
                </a:solidFill>
                <a:latin typeface="Calibri"/>
                <a:ea typeface="Calibri"/>
                <a:cs typeface="Calibri"/>
              </a:defRPr>
            </a:lvl5pPr>
            <a:lvl6pPr algn="l">
              <a:defRPr sz="1575" b="0">
                <a:solidFill>
                  <a:srgbClr val="21295C"/>
                </a:solidFill>
                <a:latin typeface="Calibri"/>
                <a:ea typeface="Calibri"/>
                <a:cs typeface="Calibri"/>
              </a:defRPr>
            </a:lvl6pPr>
            <a:lvl7pPr algn="l">
              <a:defRPr sz="1575" b="0">
                <a:solidFill>
                  <a:srgbClr val="21295C"/>
                </a:solidFill>
                <a:latin typeface="Calibri"/>
                <a:ea typeface="Calibri"/>
                <a:cs typeface="Calibri"/>
              </a:defRPr>
            </a:lvl7pPr>
            <a:lvl8pPr algn="l">
              <a:defRPr sz="1575" b="0">
                <a:solidFill>
                  <a:srgbClr val="21295C"/>
                </a:solidFill>
                <a:latin typeface="Calibri"/>
                <a:ea typeface="Calibri"/>
                <a:cs typeface="Calibri"/>
              </a:defRPr>
            </a:lvl8pPr>
            <a:lvl9pPr algn="l">
              <a:defRPr sz="1575" b="0">
                <a:solidFill>
                  <a:srgbClr val="21295C"/>
                </a:solidFill>
                <a:latin typeface="Calibri"/>
                <a:ea typeface="Calibri"/>
                <a:cs typeface="Calibri"/>
              </a:defRPr>
            </a:lvl9pPr>
          </a:lstStyle>
          <a:p xmlns:a="http://schemas.openxmlformats.org/drawingml/2006/main">
            <a:pPr algn="l">
              <a:defRPr sz="1575" b="0">
                <a:solidFill>
                  <a:srgbClr val="21295C"/>
                </a:solidFill>
                <a:latin typeface="Calibri"/>
                <a:ea typeface="Calibri"/>
                <a:cs typeface="Calibri"/>
              </a:defRPr>
            </a:pPr>
            <a:r>
              <a:rPr sz="1575" b="0">
                <a:solidFill>
                  <a:srgbClr val="21295C"/>
                </a:solidFill>
                <a:latin typeface="Calibri"/>
                <a:ea typeface="Calibri"/>
                <a:cs typeface="Calibri"/>
              </a:rPr>
              <a:t>1. Clean and validate the source data</a:t>
            </a:r>
          </a:p>
          <a:p xmlns:a="http://schemas.openxmlformats.org/drawingml/2006/main">
            <a:pPr algn="l">
              <a:defRPr sz="1575" b="0">
                <a:solidFill>
                  <a:srgbClr val="21295C"/>
                </a:solidFill>
                <a:latin typeface="Calibri"/>
                <a:ea typeface="Calibri"/>
                <a:cs typeface="Calibri"/>
              </a:defRPr>
            </a:pPr>
            <a:r>
              <a:rPr sz="1575" b="0">
                <a:solidFill>
                  <a:srgbClr val="21295C"/>
                </a:solidFill>
                <a:latin typeface="Calibri"/>
                <a:ea typeface="Calibri"/>
                <a:cs typeface="Calibri"/>
              </a:rPr>
              <a:t>2. Split 1,069 training / 268 test rows</a:t>
            </a:r>
          </a:p>
          <a:p xmlns:a="http://schemas.openxmlformats.org/drawingml/2006/main">
            <a:pPr algn="l">
              <a:defRPr sz="1575" b="0">
                <a:solidFill>
                  <a:srgbClr val="21295C"/>
                </a:solidFill>
                <a:latin typeface="Calibri"/>
                <a:ea typeface="Calibri"/>
                <a:cs typeface="Calibri"/>
              </a:defRPr>
            </a:pPr>
            <a:r>
              <a:rPr sz="1575" b="0">
                <a:solidFill>
                  <a:srgbClr val="21295C"/>
                </a:solidFill>
                <a:latin typeface="Calibri"/>
                <a:ea typeface="Calibri"/>
                <a:cs typeface="Calibri"/>
              </a:rPr>
              <a:t>3. Compare models using five training folds</a:t>
            </a:r>
          </a:p>
          <a:p xmlns:a="http://schemas.openxmlformats.org/drawingml/2006/main">
            <a:pPr algn="l">
              <a:defRPr sz="1575" b="0">
                <a:solidFill>
                  <a:srgbClr val="21295C"/>
                </a:solidFill>
                <a:latin typeface="Calibri"/>
                <a:ea typeface="Calibri"/>
                <a:cs typeface="Calibri"/>
              </a:defRPr>
            </a:pPr>
            <a:r>
              <a:rPr sz="1575" b="0">
                <a:solidFill>
                  <a:srgbClr val="21295C"/>
                </a:solidFill>
                <a:latin typeface="Calibri"/>
                <a:ea typeface="Calibri"/>
                <a:cs typeface="Calibri"/>
              </a:rPr>
              <a:t>4. Fit gradient boosting and save the pipeline</a:t>
            </a:r>
          </a:p>
          <a:p xmlns:a="http://schemas.openxmlformats.org/drawingml/2006/main">
            <a:pPr algn="l">
              <a:defRPr sz="1575" b="0">
                <a:solidFill>
                  <a:srgbClr val="21295C"/>
                </a:solidFill>
                <a:latin typeface="Calibri"/>
                <a:ea typeface="Calibri"/>
                <a:cs typeface="Calibri"/>
              </a:defRPr>
            </a:pPr>
            <a:r>
              <a:rPr sz="1575" b="0">
                <a:solidFill>
                  <a:srgbClr val="21295C"/>
                </a:solidFill>
                <a:latin typeface="Calibri"/>
                <a:ea typeface="Calibri"/>
                <a:cs typeface="Calibri"/>
              </a:rPr>
              <a:t>5. Validate a profile and return its estimate</a:t>
            </a:r>
          </a:p>
        </p:txBody>
      </p:sp>
      <p:graphicFrame>
        <p:nvGraphicFramePr>
          <p:cNvPr id="142" name="">
            <a:extLst xmlns:a="http://schemas.openxmlformats.org/drawingml/2006/main">
              <a:ext uri="{FF2B5EF4-FFF2-40B4-BE49-F238E27FC236}">
                <a16:creationId xmlns:a16="http://schemas.microsoft.com/office/drawing/2014/main" id="{6029C682-1B3B-41DD-9198-1CD0C4D39375}"/>
              </a:ext>
            </a:extLst>
          </p:cNvPr>
          <p:cNvGraphicFramePr/>
          <p:nvPr/>
        </p:nvGraphicFramePr>
        <p:xfrm>
          <a:off xmlns:a="http://schemas.openxmlformats.org/drawingml/2006/main" x="4524375" y="3981450"/>
          <a:ext xmlns:a="http://schemas.openxmlformats.org/drawingml/2006/main" cx="6038850" cy="1171575"/>
        </p:xfrm>
        <a:graphic xmlns:a="http://schemas.openxmlformats.org/drawingml/2006/main">
          <a:graphicData uri="http://schemas.openxmlformats.org/drawingml/2006/table">
            <a:tbl>
              <a:tblPr/>
              <a:tblGrid>
                <a:gridCol w="2381250"/>
                <a:gridCol w="1857375"/>
                <a:gridCol w="1800225"/>
              </a:tblGrid>
              <a:tr h="390525">
                <a:tc>
                  <a:txBody>
                    <a:bodyPr lIns="123825" tIns="76200" rIns="114300" bIns="76200">
                      <a:noAutofit/>
                    </a:bodyPr>
                    <a:lstStyle/>
                    <a:p>
                      <a:pPr algn="l"/>
                      <a:r>
                        <a:rPr sz="1425" b="1">
                          <a:solidFill>
                            <a:srgbClr val="FFFFFF"/>
                          </a:solidFill>
                          <a:latin typeface="Calibri"/>
                          <a:ea typeface="Calibri"/>
                          <a:cs typeface="Calibri"/>
                        </a:rPr>
                        <a:t>Evaluation</a:t>
                      </a:r>
                    </a:p>
                  </a:txBody>
                  <a:tcPr marL="91440" marR="91440" marT="45720" marB="45720" anchor="ctr">
                    <a:lnL w="6668">
                      <a:solidFill>
                        <a:srgbClr val="D9E2F0"/>
                      </a:solidFill>
                      <a:prstDash val="solid"/>
                    </a:lnL>
                    <a:lnR w="6668">
                      <a:solidFill>
                        <a:srgbClr val="D9E2F0"/>
                      </a:solidFill>
                      <a:prstDash val="solid"/>
                    </a:lnR>
                    <a:lnT w="6668">
                      <a:solidFill>
                        <a:srgbClr val="D9E2F0"/>
                      </a:solidFill>
                      <a:prstDash val="solid"/>
                    </a:lnT>
                    <a:lnB w="6668">
                      <a:solidFill>
                        <a:srgbClr val="D9E2F0"/>
                      </a:solidFill>
                      <a:prstDash val="solid"/>
                    </a:lnB>
                    <a:solidFill>
                      <a:srgbClr val="21295C"/>
                    </a:solidFill>
                  </a:tcPr>
                </a:tc>
                <a:tc>
                  <a:txBody>
                    <a:bodyPr lIns="123825" tIns="76200" rIns="114300" bIns="76200">
                      <a:noAutofit/>
                    </a:bodyPr>
                    <a:lstStyle/>
                    <a:p>
                      <a:pPr algn="l"/>
                      <a:r>
                        <a:rPr sz="1425" b="1">
                          <a:solidFill>
                            <a:srgbClr val="FFFFFF"/>
                          </a:solidFill>
                          <a:latin typeface="Calibri"/>
                          <a:ea typeface="Calibri"/>
                          <a:cs typeface="Calibri"/>
                        </a:rPr>
                        <a:t>MAE (USD)</a:t>
                      </a:r>
                    </a:p>
                  </a:txBody>
                  <a:tcPr marL="91440" marR="91440" marT="45720" marB="45720" anchor="ctr">
                    <a:lnR w="6668">
                      <a:solidFill>
                        <a:srgbClr val="D9E2F0"/>
                      </a:solidFill>
                      <a:prstDash val="solid"/>
                    </a:lnR>
                    <a:lnT w="6668">
                      <a:solidFill>
                        <a:srgbClr val="D9E2F0"/>
                      </a:solidFill>
                      <a:prstDash val="solid"/>
                    </a:lnT>
                    <a:lnB w="6668">
                      <a:solidFill>
                        <a:srgbClr val="D9E2F0"/>
                      </a:solidFill>
                      <a:prstDash val="solid"/>
                    </a:lnB>
                    <a:solidFill>
                      <a:srgbClr val="21295C"/>
                    </a:solidFill>
                  </a:tcPr>
                </a:tc>
                <a:tc>
                  <a:txBody>
                    <a:bodyPr lIns="123825" tIns="76200" rIns="114300" bIns="76200">
                      <a:noAutofit/>
                    </a:bodyPr>
                    <a:lstStyle/>
                    <a:p>
                      <a:pPr algn="l"/>
                      <a:r>
                        <a:rPr sz="1425" b="1">
                          <a:solidFill>
                            <a:srgbClr val="FFFFFF"/>
                          </a:solidFill>
                          <a:latin typeface="Calibri"/>
                          <a:ea typeface="Calibri"/>
                          <a:cs typeface="Calibri"/>
                        </a:rPr>
                        <a:t>R²</a:t>
                      </a:r>
                    </a:p>
                  </a:txBody>
                  <a:tcPr marL="91440" marR="91440" marT="45720" marB="45720" anchor="ctr">
                    <a:lnR w="6668">
                      <a:solidFill>
                        <a:srgbClr val="D9E2F0"/>
                      </a:solidFill>
                      <a:prstDash val="solid"/>
                    </a:lnR>
                    <a:lnT w="6668">
                      <a:solidFill>
                        <a:srgbClr val="D9E2F0"/>
                      </a:solidFill>
                      <a:prstDash val="solid"/>
                    </a:lnT>
                    <a:lnB w="6668">
                      <a:solidFill>
                        <a:srgbClr val="D9E2F0"/>
                      </a:solidFill>
                      <a:prstDash val="solid"/>
                    </a:lnB>
                    <a:solidFill>
                      <a:srgbClr val="21295C"/>
                    </a:solidFill>
                  </a:tcPr>
                </a:tc>
              </a:tr>
              <a:tr h="390525">
                <a:tc>
                  <a:txBody>
                    <a:bodyPr lIns="123825" tIns="76200" rIns="114300" bIns="76200">
                      <a:noAutofit/>
                    </a:bodyPr>
                    <a:lstStyle/>
                    <a:p>
                      <a:pPr algn="l"/>
                      <a:r>
                        <a:rPr sz="1425" b="0">
                          <a:solidFill>
                            <a:srgbClr val="1B1F3B"/>
                          </a:solidFill>
                          <a:latin typeface="Calibri"/>
                          <a:ea typeface="Calibri"/>
                          <a:cs typeface="Calibri"/>
                        </a:rPr>
                        <a:t>Training CV</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FFFFFF"/>
                    </a:solidFill>
                  </a:tcPr>
                </a:tc>
                <a:tc>
                  <a:txBody>
                    <a:bodyPr lIns="123825" tIns="76200" rIns="114300" bIns="76200">
                      <a:noAutofit/>
                    </a:bodyPr>
                    <a:lstStyle/>
                    <a:p>
                      <a:pPr algn="l"/>
                      <a:r>
                        <a:rPr sz="1425" b="0">
                          <a:solidFill>
                            <a:srgbClr val="1B1F3B"/>
                          </a:solidFill>
                          <a:latin typeface="Calibri"/>
                          <a:ea typeface="Calibri"/>
                          <a:cs typeface="Calibri"/>
                        </a:rPr>
                        <a:t>2,097.37</a:t>
                      </a:r>
                    </a:p>
                  </a:txBody>
                  <a:tcPr marL="91440" marR="91440" marT="45720" marB="45720" anchor="ctr">
                    <a:lnR w="6668">
                      <a:solidFill>
                        <a:srgbClr val="D9E2F0"/>
                      </a:solidFill>
                      <a:prstDash val="solid"/>
                    </a:lnR>
                    <a:lnB w="6668">
                      <a:solidFill>
                        <a:srgbClr val="D9E2F0"/>
                      </a:solidFill>
                      <a:prstDash val="solid"/>
                    </a:lnB>
                    <a:solidFill>
                      <a:srgbClr val="FFFFFF"/>
                    </a:solidFill>
                  </a:tcPr>
                </a:tc>
                <a:tc>
                  <a:txBody>
                    <a:bodyPr lIns="123825" tIns="76200" rIns="114300" bIns="76200">
                      <a:noAutofit/>
                    </a:bodyPr>
                    <a:lstStyle/>
                    <a:p>
                      <a:pPr algn="l"/>
                      <a:r>
                        <a:rPr sz="1425" b="0">
                          <a:solidFill>
                            <a:srgbClr val="1B1F3B"/>
                          </a:solidFill>
                          <a:latin typeface="Calibri"/>
                          <a:ea typeface="Calibri"/>
                          <a:cs typeface="Calibri"/>
                        </a:rPr>
                        <a:t>0.8344</a:t>
                      </a:r>
                    </a:p>
                  </a:txBody>
                  <a:tcPr marL="91440" marR="91440" marT="45720" marB="45720" anchor="ctr">
                    <a:lnR w="6668">
                      <a:solidFill>
                        <a:srgbClr val="D9E2F0"/>
                      </a:solidFill>
                      <a:prstDash val="solid"/>
                    </a:lnR>
                    <a:lnB w="6668">
                      <a:solidFill>
                        <a:srgbClr val="D9E2F0"/>
                      </a:solidFill>
                      <a:prstDash val="solid"/>
                    </a:lnB>
                    <a:solidFill>
                      <a:srgbClr val="FFFFFF"/>
                    </a:solidFill>
                  </a:tcPr>
                </a:tc>
              </a:tr>
              <a:tr h="390525">
                <a:tc>
                  <a:txBody>
                    <a:bodyPr lIns="123825" tIns="76200" rIns="114300" bIns="76200">
                      <a:noAutofit/>
                    </a:bodyPr>
                    <a:lstStyle/>
                    <a:p>
                      <a:pPr algn="l"/>
                      <a:r>
                        <a:rPr sz="1425" b="0">
                          <a:solidFill>
                            <a:srgbClr val="1B1F3B"/>
                          </a:solidFill>
                          <a:latin typeface="Calibri"/>
                          <a:ea typeface="Calibri"/>
                          <a:cs typeface="Calibri"/>
                        </a:rPr>
                        <a:t>Held-out test</a:t>
                      </a:r>
                    </a:p>
                  </a:txBody>
                  <a:tcPr marL="91440" marR="91440" marT="45720" marB="45720" anchor="ctr">
                    <a:lnL w="6668">
                      <a:solidFill>
                        <a:srgbClr val="D9E2F0"/>
                      </a:solidFill>
                      <a:prstDash val="solid"/>
                    </a:lnL>
                    <a:lnR w="6668">
                      <a:solidFill>
                        <a:srgbClr val="D9E2F0"/>
                      </a:solidFill>
                      <a:prstDash val="solid"/>
                    </a:lnR>
                    <a:lnB w="6668">
                      <a:solidFill>
                        <a:srgbClr val="D9E2F0"/>
                      </a:solidFill>
                      <a:prstDash val="solid"/>
                    </a:lnB>
                    <a:solidFill>
                      <a:srgbClr val="EAF1F6"/>
                    </a:solidFill>
                  </a:tcPr>
                </a:tc>
                <a:tc>
                  <a:txBody>
                    <a:bodyPr lIns="123825" tIns="76200" rIns="114300" bIns="76200">
                      <a:noAutofit/>
                    </a:bodyPr>
                    <a:lstStyle/>
                    <a:p>
                      <a:pPr algn="l"/>
                      <a:r>
                        <a:rPr sz="1425" b="0">
                          <a:solidFill>
                            <a:srgbClr val="1B1F3B"/>
                          </a:solidFill>
                          <a:latin typeface="Calibri"/>
                          <a:ea typeface="Calibri"/>
                          <a:cs typeface="Calibri"/>
                        </a:rPr>
                        <a:t>1,352.65</a:t>
                      </a:r>
                    </a:p>
                  </a:txBody>
                  <a:tcPr marL="91440" marR="91440" marT="45720" marB="45720" anchor="ctr">
                    <a:lnR w="6668">
                      <a:solidFill>
                        <a:srgbClr val="D9E2F0"/>
                      </a:solidFill>
                      <a:prstDash val="solid"/>
                    </a:lnR>
                    <a:lnB w="6668">
                      <a:solidFill>
                        <a:srgbClr val="D9E2F0"/>
                      </a:solidFill>
                      <a:prstDash val="solid"/>
                    </a:lnB>
                    <a:solidFill>
                      <a:srgbClr val="EAF1F6"/>
                    </a:solidFill>
                  </a:tcPr>
                </a:tc>
                <a:tc>
                  <a:txBody>
                    <a:bodyPr lIns="123825" tIns="76200" rIns="114300" bIns="76200">
                      <a:noAutofit/>
                    </a:bodyPr>
                    <a:lstStyle/>
                    <a:p>
                      <a:pPr algn="l"/>
                      <a:r>
                        <a:rPr sz="1425" b="0">
                          <a:solidFill>
                            <a:srgbClr val="1B1F3B"/>
                          </a:solidFill>
                          <a:latin typeface="Calibri"/>
                          <a:ea typeface="Calibri"/>
                          <a:cs typeface="Calibri"/>
                        </a:rPr>
                        <a:t>0.9246</a:t>
                      </a:r>
                    </a:p>
                  </a:txBody>
                  <a:tcPr marL="91440" marR="91440" marT="45720" marB="45720" anchor="ctr">
                    <a:lnR w="6668">
                      <a:solidFill>
                        <a:srgbClr val="D9E2F0"/>
                      </a:solidFill>
                      <a:prstDash val="solid"/>
                    </a:lnR>
                    <a:lnB w="6668">
                      <a:solidFill>
                        <a:srgbClr val="D9E2F0"/>
                      </a:solidFill>
                      <a:prstDash val="solid"/>
                    </a:lnB>
                    <a:solidFill>
                      <a:srgbClr val="EAF1F6"/>
                    </a:solidFill>
                  </a:tcPr>
                </a:tc>
              </a:tr>
            </a:tbl>
          </a:graphicData>
        </a:graphic>
      </p:graphicFrame>
      <p:sp>
        <p:nvSpPr>
          <p:cNvPr id="143" name="">
            <a:extLst xmlns:a="http://schemas.openxmlformats.org/drawingml/2006/main">
              <a:ext uri="{FF2B5EF4-FFF2-40B4-BE49-F238E27FC236}">
                <a16:creationId xmlns:a16="http://schemas.microsoft.com/office/drawing/2014/main" id="{7BBF4733-5586-4110-8F93-50F9289AA114}"/>
              </a:ext>
            </a:extLst>
          </p:cNvPr>
          <p:cNvSpPr>
            <a:spLocks xmlns:a="http://schemas.openxmlformats.org/drawingml/2006/main" noGrp="1"/>
          </p:cNvSpPr>
          <p:nvPr/>
        </p:nvSpPr>
        <p:spPr>
          <a:xfrm xmlns:a="http://schemas.openxmlformats.org/drawingml/2006/main">
            <a:off x="4524375" y="5286375"/>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1C7293"/>
                </a:solidFill>
                <a:latin typeface="Calibri"/>
                <a:ea typeface="Calibri"/>
                <a:cs typeface="Calibri"/>
              </a:defRPr>
            </a:defPPr>
            <a:lvl1pPr algn="l">
              <a:defRPr sz="1350" b="0">
                <a:solidFill>
                  <a:srgbClr val="1C7293"/>
                </a:solidFill>
                <a:latin typeface="Calibri"/>
                <a:ea typeface="Calibri"/>
                <a:cs typeface="Calibri"/>
              </a:defRPr>
            </a:lvl1pPr>
            <a:lvl2pPr algn="l">
              <a:defRPr sz="1350" b="0">
                <a:solidFill>
                  <a:srgbClr val="1C7293"/>
                </a:solidFill>
                <a:latin typeface="Calibri"/>
                <a:ea typeface="Calibri"/>
                <a:cs typeface="Calibri"/>
              </a:defRPr>
            </a:lvl2pPr>
            <a:lvl3pPr algn="l">
              <a:defRPr sz="1350" b="0">
                <a:solidFill>
                  <a:srgbClr val="1C7293"/>
                </a:solidFill>
                <a:latin typeface="Calibri"/>
                <a:ea typeface="Calibri"/>
                <a:cs typeface="Calibri"/>
              </a:defRPr>
            </a:lvl3pPr>
            <a:lvl4pPr algn="l">
              <a:defRPr sz="1350" b="0">
                <a:solidFill>
                  <a:srgbClr val="1C7293"/>
                </a:solidFill>
                <a:latin typeface="Calibri"/>
                <a:ea typeface="Calibri"/>
                <a:cs typeface="Calibri"/>
              </a:defRPr>
            </a:lvl4pPr>
            <a:lvl5pPr algn="l">
              <a:defRPr sz="1350" b="0">
                <a:solidFill>
                  <a:srgbClr val="1C7293"/>
                </a:solidFill>
                <a:latin typeface="Calibri"/>
                <a:ea typeface="Calibri"/>
                <a:cs typeface="Calibri"/>
              </a:defRPr>
            </a:lvl5pPr>
            <a:lvl6pPr algn="l">
              <a:defRPr sz="1350" b="0">
                <a:solidFill>
                  <a:srgbClr val="1C7293"/>
                </a:solidFill>
                <a:latin typeface="Calibri"/>
                <a:ea typeface="Calibri"/>
                <a:cs typeface="Calibri"/>
              </a:defRPr>
            </a:lvl6pPr>
            <a:lvl7pPr algn="l">
              <a:defRPr sz="1350" b="0">
                <a:solidFill>
                  <a:srgbClr val="1C7293"/>
                </a:solidFill>
                <a:latin typeface="Calibri"/>
                <a:ea typeface="Calibri"/>
                <a:cs typeface="Calibri"/>
              </a:defRPr>
            </a:lvl7pPr>
            <a:lvl8pPr algn="l">
              <a:defRPr sz="1350" b="0">
                <a:solidFill>
                  <a:srgbClr val="1C7293"/>
                </a:solidFill>
                <a:latin typeface="Calibri"/>
                <a:ea typeface="Calibri"/>
                <a:cs typeface="Calibri"/>
              </a:defRPr>
            </a:lvl8pPr>
            <a:lvl9pPr algn="l">
              <a:defRPr sz="1350" b="0">
                <a:solidFill>
                  <a:srgbClr val="1C7293"/>
                </a:solidFill>
                <a:latin typeface="Calibri"/>
                <a:ea typeface="Calibri"/>
                <a:cs typeface="Calibri"/>
              </a:defRPr>
            </a:lvl9pPr>
          </a:lstStyle>
          <a:p xmlns:a="http://schemas.openxmlformats.org/drawingml/2006/main">
            <a:pPr algn="l">
              <a:defRPr sz="1350" b="0">
                <a:solidFill>
                  <a:srgbClr val="1C7293"/>
                </a:solidFill>
                <a:latin typeface="Calibri"/>
                <a:ea typeface="Calibri"/>
                <a:cs typeface="Calibri"/>
              </a:defRPr>
            </a:pPr>
            <a:r>
              <a:rPr sz="1350" b="0">
                <a:solidFill>
                  <a:srgbClr val="1C7293"/>
                </a:solidFill>
                <a:latin typeface="Calibri"/>
                <a:ea typeface="Calibri"/>
                <a:cs typeface="Calibri"/>
              </a:rPr>
              <a:t>Test RMSE: $3,297.50. R² is a regression score.</a:t>
            </a:r>
          </a:p>
        </p:txBody>
      </p:sp>
      <p:sp>
        <p:nvSpPr>
          <p:cNvPr id="144" name="">
            <a:extLst xmlns:a="http://schemas.openxmlformats.org/drawingml/2006/main">
              <a:ext uri="{FF2B5EF4-FFF2-40B4-BE49-F238E27FC236}">
                <a16:creationId xmlns:a16="http://schemas.microsoft.com/office/drawing/2014/main" id="{18A9C70B-3462-46B7-9742-A90787F64D7B}"/>
              </a:ext>
            </a:extLst>
          </p:cNvPr>
          <p:cNvSpPr>
            <a:spLocks xmlns:a="http://schemas.openxmlformats.org/drawingml/2006/main" noGrp="1"/>
          </p:cNvSpPr>
          <p:nvPr/>
        </p:nvSpPr>
        <p:spPr>
          <a:xfrm xmlns:a="http://schemas.openxmlformats.org/drawingml/2006/main">
            <a:off x="4524375" y="5648325"/>
            <a:ext cx="595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6B7593"/>
                </a:solidFill>
                <a:latin typeface="Calibri"/>
                <a:ea typeface="Calibri"/>
                <a:cs typeface="Calibri"/>
              </a:defRPr>
            </a:defPPr>
            <a:lvl1pPr algn="l">
              <a:defRPr sz="1200" b="0">
                <a:solidFill>
                  <a:srgbClr val="6B7593"/>
                </a:solidFill>
                <a:latin typeface="Calibri"/>
                <a:ea typeface="Calibri"/>
                <a:cs typeface="Calibri"/>
              </a:defRPr>
            </a:lvl1pPr>
            <a:lvl2pPr algn="l">
              <a:defRPr sz="1200" b="0">
                <a:solidFill>
                  <a:srgbClr val="6B7593"/>
                </a:solidFill>
                <a:latin typeface="Calibri"/>
                <a:ea typeface="Calibri"/>
                <a:cs typeface="Calibri"/>
              </a:defRPr>
            </a:lvl2pPr>
            <a:lvl3pPr algn="l">
              <a:defRPr sz="1200" b="0">
                <a:solidFill>
                  <a:srgbClr val="6B7593"/>
                </a:solidFill>
                <a:latin typeface="Calibri"/>
                <a:ea typeface="Calibri"/>
                <a:cs typeface="Calibri"/>
              </a:defRPr>
            </a:lvl3pPr>
            <a:lvl4pPr algn="l">
              <a:defRPr sz="1200" b="0">
                <a:solidFill>
                  <a:srgbClr val="6B7593"/>
                </a:solidFill>
                <a:latin typeface="Calibri"/>
                <a:ea typeface="Calibri"/>
                <a:cs typeface="Calibri"/>
              </a:defRPr>
            </a:lvl4pPr>
            <a:lvl5pPr algn="l">
              <a:defRPr sz="1200" b="0">
                <a:solidFill>
                  <a:srgbClr val="6B7593"/>
                </a:solidFill>
                <a:latin typeface="Calibri"/>
                <a:ea typeface="Calibri"/>
                <a:cs typeface="Calibri"/>
              </a:defRPr>
            </a:lvl5pPr>
            <a:lvl6pPr algn="l">
              <a:defRPr sz="1200" b="0">
                <a:solidFill>
                  <a:srgbClr val="6B7593"/>
                </a:solidFill>
                <a:latin typeface="Calibri"/>
                <a:ea typeface="Calibri"/>
                <a:cs typeface="Calibri"/>
              </a:defRPr>
            </a:lvl6pPr>
            <a:lvl7pPr algn="l">
              <a:defRPr sz="1200" b="0">
                <a:solidFill>
                  <a:srgbClr val="6B7593"/>
                </a:solidFill>
                <a:latin typeface="Calibri"/>
                <a:ea typeface="Calibri"/>
                <a:cs typeface="Calibri"/>
              </a:defRPr>
            </a:lvl7pPr>
            <a:lvl8pPr algn="l">
              <a:defRPr sz="1200" b="0">
                <a:solidFill>
                  <a:srgbClr val="6B7593"/>
                </a:solidFill>
                <a:latin typeface="Calibri"/>
                <a:ea typeface="Calibri"/>
                <a:cs typeface="Calibri"/>
              </a:defRPr>
            </a:lvl8pPr>
            <a:lvl9pPr algn="l">
              <a:defRPr sz="1200" b="0">
                <a:solidFill>
                  <a:srgbClr val="6B7593"/>
                </a:solidFill>
                <a:latin typeface="Calibri"/>
                <a:ea typeface="Calibri"/>
                <a:cs typeface="Calibri"/>
              </a:defRPr>
            </a:lvl9pPr>
          </a:lstStyle>
          <a:p xmlns:a="http://schemas.openxmlformats.org/drawingml/2006/main">
            <a:pPr algn="l">
              <a:defRPr sz="1200" b="0">
                <a:solidFill>
                  <a:srgbClr val="6B7593"/>
                </a:solidFill>
                <a:latin typeface="Calibri"/>
                <a:ea typeface="Calibri"/>
                <a:cs typeface="Calibri"/>
              </a:defRPr>
            </a:pPr>
            <a:r>
              <a:rPr sz="1200" b="0">
                <a:solidFill>
                  <a:srgbClr val="6B7593"/>
                </a:solidFill>
                <a:latin typeface="Calibri"/>
                <a:ea typeface="Calibri"/>
                <a:cs typeface="Calibri"/>
              </a:rPr>
              <a:t>Historical US medical charges in USD. Individual errors can exceed average MAE.</a:t>
            </a:r>
          </a:p>
        </p:txBody>
      </p:sp>
    </p:spTree>
    <p:extLst>
      <p:ext uri="{BB962C8B-B14F-4D97-AF65-F5344CB8AC3E}">
        <p14:creationId xmlns:p14="http://schemas.microsoft.com/office/powerpoint/2010/main" val="1323414758"/>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4" name="Google Shape;144;p10">
            <a:extLst xmlns:a="http://schemas.openxmlformats.org/drawingml/2006/main">
              <a:ext uri="{FF2B5EF4-FFF2-40B4-BE49-F238E27FC236}">
                <a16:creationId xmlns:a16="http://schemas.microsoft.com/office/drawing/2014/main" id="{C8B38AA4-8F32-4063-83DD-84AAE015B274}"/>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45" name="Google Shape;145;p10">
            <a:extLst xmlns:a="http://schemas.openxmlformats.org/drawingml/2006/main">
              <a:ext uri="{FF2B5EF4-FFF2-40B4-BE49-F238E27FC236}">
                <a16:creationId xmlns:a16="http://schemas.microsoft.com/office/drawing/2014/main" id="{AF1646FA-E2EB-4A0E-A75B-F73E1978678D}"/>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46" name="Google Shape;146;p10">
            <a:extLst xmlns:a="http://schemas.openxmlformats.org/drawingml/2006/main">
              <a:ext uri="{FF2B5EF4-FFF2-40B4-BE49-F238E27FC236}">
                <a16:creationId xmlns:a16="http://schemas.microsoft.com/office/drawing/2014/main" id="{B238354F-EA3C-4C5B-9F42-5D29BC99280D}"/>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47" name="Google Shape;147;p10">
            <a:extLst xmlns:a="http://schemas.openxmlformats.org/drawingml/2006/main">
              <a:ext uri="{FF2B5EF4-FFF2-40B4-BE49-F238E27FC236}">
                <a16:creationId xmlns:a16="http://schemas.microsoft.com/office/drawing/2014/main" id="{3EAA703A-E404-437F-BB4C-F8A844452748}"/>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strike="noStrike" cap="none">
                <a:solidFill>
                  <a:srgbClr val="FFFFFF"/>
                </a:solidFill>
                <a:latin typeface="Calibri"/>
                <a:ea typeface="Calibri"/>
                <a:cs typeface="Calibri"/>
              </a:rPr>
              <a:t>07</a:t>
            </a:r>
            <a:endParaRPr sz="1600" b="0" i="0" u="none" strike="noStrike" cap="none">
              <a:solidFill>
                <a:schemeClr val="dk1"/>
              </a:solidFill>
              <a:latin typeface="Calibri"/>
              <a:ea typeface="Calibri"/>
              <a:cs typeface="Calibri"/>
            </a:endParaRPr>
          </a:p>
        </p:txBody>
      </p:sp>
      <p:sp>
        <p:nvSpPr>
          <p:cNvPr id="148" name="Google Shape;148;p10">
            <a:extLst xmlns:a="http://schemas.openxmlformats.org/drawingml/2006/main">
              <a:ext uri="{FF2B5EF4-FFF2-40B4-BE49-F238E27FC236}">
                <a16:creationId xmlns:a16="http://schemas.microsoft.com/office/drawing/2014/main" id="{4DF9D296-C858-4EB6-B2FB-A7D009F80159}"/>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strike="noStrike" cap="none">
                <a:solidFill>
                  <a:srgbClr val="1C7293"/>
                </a:solidFill>
                <a:latin typeface="Calibri"/>
                <a:ea typeface="Calibri"/>
                <a:cs typeface="Calibri"/>
              </a:rPr>
              <a:t>SECTION 07</a:t>
            </a:r>
            <a:endParaRPr sz="1100" b="0" i="0" u="none" strike="noStrike" cap="none">
              <a:solidFill>
                <a:schemeClr val="dk1"/>
              </a:solidFill>
              <a:latin typeface="Calibri"/>
              <a:ea typeface="Calibri"/>
              <a:cs typeface="Calibri"/>
            </a:endParaRPr>
          </a:p>
        </p:txBody>
      </p:sp>
      <p:sp>
        <p:nvSpPr>
          <p:cNvPr id="149" name="Google Shape;149;p10">
            <a:extLst xmlns:a="http://schemas.openxmlformats.org/drawingml/2006/main">
              <a:ext uri="{FF2B5EF4-FFF2-40B4-BE49-F238E27FC236}">
                <a16:creationId xmlns:a16="http://schemas.microsoft.com/office/drawing/2014/main" id="{86FD4C55-E3D3-43EC-821C-F0D636F79BDA}"/>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strike="noStrike" cap="none">
                <a:solidFill>
                  <a:srgbClr val="21295C"/>
                </a:solidFill>
                <a:latin typeface="Cambria"/>
                <a:ea typeface="Cambria"/>
                <a:cs typeface="Cambria"/>
              </a:rPr>
              <a:t>Learning Outcomes</a:t>
            </a:r>
            <a:endParaRPr sz="3000" b="0" i="0" u="none" strike="noStrike" cap="none">
              <a:solidFill>
                <a:schemeClr val="dk1"/>
              </a:solidFill>
              <a:latin typeface="Calibri"/>
              <a:ea typeface="Calibri"/>
              <a:cs typeface="Calibri"/>
            </a:endParaRPr>
          </a:p>
        </p:txBody>
      </p:sp>
      <p:sp>
        <p:nvSpPr>
          <p:cNvPr id="150" name="Google Shape;150;p10">
            <a:extLst xmlns:a="http://schemas.openxmlformats.org/drawingml/2006/main">
              <a:ext uri="{FF2B5EF4-FFF2-40B4-BE49-F238E27FC236}">
                <a16:creationId xmlns:a16="http://schemas.microsoft.com/office/drawing/2014/main" id="{1F17E077-5917-4904-BFC8-288E9A11E00B}"/>
              </a:ext>
            </a:extLst>
          </p:cNvPr>
          <p:cNvSpPr>
            <a:spLocks xmlns:a="http://schemas.openxmlformats.org/drawingml/2006/main" noGrp="1"/>
          </p:cNvSpPr>
          <p:nvPr/>
        </p:nvSpPr>
        <p:spPr>
          <a:xfrm xmlns:a="http://schemas.openxmlformats.org/drawingml/2006/main">
            <a:off x="1249640" y="160019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51" name="Google Shape;151;p10">
            <a:extLst xmlns:a="http://schemas.openxmlformats.org/drawingml/2006/main">
              <a:ext uri="{FF2B5EF4-FFF2-40B4-BE49-F238E27FC236}">
                <a16:creationId xmlns:a16="http://schemas.microsoft.com/office/drawing/2014/main" id="{57C4876F-2A8F-457D-824A-CAB77A2FEE30}"/>
              </a:ext>
            </a:extLst>
          </p:cNvPr>
          <p:cNvSpPr>
            <a:spLocks xmlns:a="http://schemas.openxmlformats.org/drawingml/2006/main" noGrp="1"/>
          </p:cNvSpPr>
          <p:nvPr/>
        </p:nvSpPr>
        <p:spPr>
          <a:xfrm xmlns:a="http://schemas.openxmlformats.org/drawingml/2006/main">
            <a:off x="1249640" y="256031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52" name="Google Shape;152;p10">
            <a:extLst xmlns:a="http://schemas.openxmlformats.org/drawingml/2006/main">
              <a:ext uri="{FF2B5EF4-FFF2-40B4-BE49-F238E27FC236}">
                <a16:creationId xmlns:a16="http://schemas.microsoft.com/office/drawing/2014/main" id="{3C6D61C4-70F1-408B-BA1F-2F9850D5505C}"/>
              </a:ext>
            </a:extLst>
          </p:cNvPr>
          <p:cNvSpPr>
            <a:spLocks xmlns:a="http://schemas.openxmlformats.org/drawingml/2006/main" noGrp="1"/>
          </p:cNvSpPr>
          <p:nvPr/>
        </p:nvSpPr>
        <p:spPr>
          <a:xfrm xmlns:a="http://schemas.openxmlformats.org/drawingml/2006/main">
            <a:off x="1249640" y="352043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53" name="Google Shape;153;p10">
            <a:extLst xmlns:a="http://schemas.openxmlformats.org/drawingml/2006/main">
              <a:ext uri="{FF2B5EF4-FFF2-40B4-BE49-F238E27FC236}">
                <a16:creationId xmlns:a16="http://schemas.microsoft.com/office/drawing/2014/main" id="{7CF5AFB6-6336-4C25-912A-7C1816FEFF65}"/>
              </a:ext>
            </a:extLst>
          </p:cNvPr>
          <p:cNvSpPr>
            <a:spLocks xmlns:a="http://schemas.openxmlformats.org/drawingml/2006/main" noGrp="1"/>
          </p:cNvSpPr>
          <p:nvPr/>
        </p:nvSpPr>
        <p:spPr>
          <a:xfrm xmlns:a="http://schemas.openxmlformats.org/drawingml/2006/main">
            <a:off x="1249640" y="448055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54" name="Google Shape;154;p10">
            <a:extLst xmlns:a="http://schemas.openxmlformats.org/drawingml/2006/main">
              <a:ext uri="{FF2B5EF4-FFF2-40B4-BE49-F238E27FC236}">
                <a16:creationId xmlns:a16="http://schemas.microsoft.com/office/drawing/2014/main" id="{7FC7926F-23D9-4EFF-BA03-3A236F7ECFE6}"/>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B.TECH SUMMER INTERNSHIP PRESENTATION  ·  LLOYD INSTITUTE OF ENGINEERING &amp; TECHNOLOGY</a:t>
            </a:r>
            <a:endParaRPr sz="900" b="0" i="0" u="none" strike="noStrike" cap="none">
              <a:solidFill>
                <a:schemeClr val="dk1"/>
              </a:solidFill>
              <a:latin typeface="Calibri"/>
              <a:ea typeface="Calibri"/>
              <a:cs typeface="Calibri"/>
            </a:endParaRPr>
          </a:p>
        </p:txBody>
      </p:sp>
      <p:sp>
        <p:nvSpPr>
          <p:cNvPr id="155" name="Google Shape;155;p10">
            <a:extLst xmlns:a="http://schemas.openxmlformats.org/drawingml/2006/main">
              <a:ext uri="{FF2B5EF4-FFF2-40B4-BE49-F238E27FC236}">
                <a16:creationId xmlns:a16="http://schemas.microsoft.com/office/drawing/2014/main" id="{EB96FCC0-AAA3-4A65-AD5D-8561D9BEC8C7}"/>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8</a:t>
            </a:r>
            <a:endParaRPr sz="900" b="0" i="0" u="none" strike="noStrike" cap="none">
              <a:solidFill>
                <a:schemeClr val="dk1"/>
              </a:solidFill>
              <a:latin typeface="Calibri"/>
              <a:ea typeface="Calibri"/>
              <a:cs typeface="Calibri"/>
            </a:endParaRPr>
          </a:p>
        </p:txBody>
      </p:sp>
      <p:sp>
        <p:nvSpPr>
          <p:cNvPr id="156" name="">
            <a:extLst xmlns:a="http://schemas.openxmlformats.org/drawingml/2006/main">
              <a:ext uri="{FF2B5EF4-FFF2-40B4-BE49-F238E27FC236}">
                <a16:creationId xmlns:a16="http://schemas.microsoft.com/office/drawing/2014/main" id="{3943C3A8-28B6-4183-A744-B3A4FFA90750}"/>
              </a:ext>
            </a:extLst>
          </p:cNvPr>
          <p:cNvSpPr>
            <a:spLocks xmlns:a="http://schemas.openxmlformats.org/drawingml/2006/main" noGrp="1"/>
          </p:cNvSpPr>
          <p:nvPr/>
        </p:nvSpPr>
        <p:spPr>
          <a:xfrm xmlns:a="http://schemas.openxmlformats.org/drawingml/2006/main">
            <a:off x="1487805" y="1724025"/>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21295C"/>
                </a:solidFill>
                <a:latin typeface="Calibri"/>
                <a:ea typeface="Calibri"/>
                <a:cs typeface="Calibri"/>
              </a:defRPr>
            </a:defPPr>
            <a:lvl1pPr algn="l">
              <a:defRPr sz="1650" b="1">
                <a:solidFill>
                  <a:srgbClr val="21295C"/>
                </a:solidFill>
                <a:latin typeface="Calibri"/>
                <a:ea typeface="Calibri"/>
                <a:cs typeface="Calibri"/>
              </a:defRPr>
            </a:lvl1pPr>
            <a:lvl2pPr algn="l">
              <a:defRPr sz="1650" b="1">
                <a:solidFill>
                  <a:srgbClr val="21295C"/>
                </a:solidFill>
                <a:latin typeface="Calibri"/>
                <a:ea typeface="Calibri"/>
                <a:cs typeface="Calibri"/>
              </a:defRPr>
            </a:lvl2pPr>
            <a:lvl3pPr algn="l">
              <a:defRPr sz="1650" b="1">
                <a:solidFill>
                  <a:srgbClr val="21295C"/>
                </a:solidFill>
                <a:latin typeface="Calibri"/>
                <a:ea typeface="Calibri"/>
                <a:cs typeface="Calibri"/>
              </a:defRPr>
            </a:lvl3pPr>
            <a:lvl4pPr algn="l">
              <a:defRPr sz="1650" b="1">
                <a:solidFill>
                  <a:srgbClr val="21295C"/>
                </a:solidFill>
                <a:latin typeface="Calibri"/>
                <a:ea typeface="Calibri"/>
                <a:cs typeface="Calibri"/>
              </a:defRPr>
            </a:lvl4pPr>
            <a:lvl5pPr algn="l">
              <a:defRPr sz="1650" b="1">
                <a:solidFill>
                  <a:srgbClr val="21295C"/>
                </a:solidFill>
                <a:latin typeface="Calibri"/>
                <a:ea typeface="Calibri"/>
                <a:cs typeface="Calibri"/>
              </a:defRPr>
            </a:lvl5pPr>
            <a:lvl6pPr algn="l">
              <a:defRPr sz="1650" b="1">
                <a:solidFill>
                  <a:srgbClr val="21295C"/>
                </a:solidFill>
                <a:latin typeface="Calibri"/>
                <a:ea typeface="Calibri"/>
                <a:cs typeface="Calibri"/>
              </a:defRPr>
            </a:lvl6pPr>
            <a:lvl7pPr algn="l">
              <a:defRPr sz="1650" b="1">
                <a:solidFill>
                  <a:srgbClr val="21295C"/>
                </a:solidFill>
                <a:latin typeface="Calibri"/>
                <a:ea typeface="Calibri"/>
                <a:cs typeface="Calibri"/>
              </a:defRPr>
            </a:lvl7pPr>
            <a:lvl8pPr algn="l">
              <a:defRPr sz="1650" b="1">
                <a:solidFill>
                  <a:srgbClr val="21295C"/>
                </a:solidFill>
                <a:latin typeface="Calibri"/>
                <a:ea typeface="Calibri"/>
                <a:cs typeface="Calibri"/>
              </a:defRPr>
            </a:lvl8pPr>
            <a:lvl9pPr algn="l">
              <a:defRPr sz="1650" b="1">
                <a:solidFill>
                  <a:srgbClr val="21295C"/>
                </a:solidFill>
                <a:latin typeface="Calibri"/>
                <a:ea typeface="Calibri"/>
                <a:cs typeface="Calibri"/>
              </a:defRPr>
            </a:lvl9pPr>
          </a:lstStyle>
          <a:p xmlns:a="http://schemas.openxmlformats.org/drawingml/2006/main">
            <a:pPr algn="l">
              <a:defRPr sz="1650" b="1">
                <a:solidFill>
                  <a:srgbClr val="21295C"/>
                </a:solidFill>
                <a:latin typeface="Calibri"/>
                <a:ea typeface="Calibri"/>
                <a:cs typeface="Calibri"/>
              </a:defRPr>
            </a:pPr>
            <a:r>
              <a:rPr sz="1650" b="1">
                <a:solidFill>
                  <a:srgbClr val="21295C"/>
                </a:solidFill>
                <a:latin typeface="Calibri"/>
                <a:ea typeface="Calibri"/>
                <a:cs typeface="Calibri"/>
              </a:rPr>
              <a:t>Data preparation</a:t>
            </a:r>
          </a:p>
        </p:txBody>
      </p:sp>
      <p:sp>
        <p:nvSpPr>
          <p:cNvPr id="157" name="">
            <a:extLst xmlns:a="http://schemas.openxmlformats.org/drawingml/2006/main">
              <a:ext uri="{FF2B5EF4-FFF2-40B4-BE49-F238E27FC236}">
                <a16:creationId xmlns:a16="http://schemas.microsoft.com/office/drawing/2014/main" id="{E3D3F1F0-EB19-49A5-8F52-D21E9D59E601}"/>
              </a:ext>
            </a:extLst>
          </p:cNvPr>
          <p:cNvSpPr>
            <a:spLocks xmlns:a="http://schemas.openxmlformats.org/drawingml/2006/main" noGrp="1"/>
          </p:cNvSpPr>
          <p:nvPr/>
        </p:nvSpPr>
        <p:spPr>
          <a:xfrm xmlns:a="http://schemas.openxmlformats.org/drawingml/2006/main">
            <a:off x="3850005" y="1724025"/>
            <a:ext cx="6882860" cy="634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1B1F3B"/>
                </a:solidFill>
                <a:latin typeface="Calibri"/>
                <a:ea typeface="Calibri"/>
                <a:cs typeface="Calibri"/>
              </a:defRPr>
            </a:defPPr>
            <a:lvl1pPr algn="l">
              <a:defRPr sz="1575" b="0">
                <a:solidFill>
                  <a:srgbClr val="1B1F3B"/>
                </a:solidFill>
                <a:latin typeface="Calibri"/>
                <a:ea typeface="Calibri"/>
                <a:cs typeface="Calibri"/>
              </a:defRPr>
            </a:lvl1pPr>
            <a:lvl2pPr algn="l">
              <a:defRPr sz="1575" b="0">
                <a:solidFill>
                  <a:srgbClr val="1B1F3B"/>
                </a:solidFill>
                <a:latin typeface="Calibri"/>
                <a:ea typeface="Calibri"/>
                <a:cs typeface="Calibri"/>
              </a:defRPr>
            </a:lvl2pPr>
            <a:lvl3pPr algn="l">
              <a:defRPr sz="1575" b="0">
                <a:solidFill>
                  <a:srgbClr val="1B1F3B"/>
                </a:solidFill>
                <a:latin typeface="Calibri"/>
                <a:ea typeface="Calibri"/>
                <a:cs typeface="Calibri"/>
              </a:defRPr>
            </a:lvl3pPr>
            <a:lvl4pPr algn="l">
              <a:defRPr sz="1575" b="0">
                <a:solidFill>
                  <a:srgbClr val="1B1F3B"/>
                </a:solidFill>
                <a:latin typeface="Calibri"/>
                <a:ea typeface="Calibri"/>
                <a:cs typeface="Calibri"/>
              </a:defRPr>
            </a:lvl4pPr>
            <a:lvl5pPr algn="l">
              <a:defRPr sz="1575" b="0">
                <a:solidFill>
                  <a:srgbClr val="1B1F3B"/>
                </a:solidFill>
                <a:latin typeface="Calibri"/>
                <a:ea typeface="Calibri"/>
                <a:cs typeface="Calibri"/>
              </a:defRPr>
            </a:lvl5pPr>
            <a:lvl6pPr algn="l">
              <a:defRPr sz="1575" b="0">
                <a:solidFill>
                  <a:srgbClr val="1B1F3B"/>
                </a:solidFill>
                <a:latin typeface="Calibri"/>
                <a:ea typeface="Calibri"/>
                <a:cs typeface="Calibri"/>
              </a:defRPr>
            </a:lvl6pPr>
            <a:lvl7pPr algn="l">
              <a:defRPr sz="1575" b="0">
                <a:solidFill>
                  <a:srgbClr val="1B1F3B"/>
                </a:solidFill>
                <a:latin typeface="Calibri"/>
                <a:ea typeface="Calibri"/>
                <a:cs typeface="Calibri"/>
              </a:defRPr>
            </a:lvl7pPr>
            <a:lvl8pPr algn="l">
              <a:defRPr sz="1575" b="0">
                <a:solidFill>
                  <a:srgbClr val="1B1F3B"/>
                </a:solidFill>
                <a:latin typeface="Calibri"/>
                <a:ea typeface="Calibri"/>
                <a:cs typeface="Calibri"/>
              </a:defRPr>
            </a:lvl8pPr>
            <a:lvl9pPr algn="l">
              <a:defRPr sz="1575" b="0">
                <a:solidFill>
                  <a:srgbClr val="1B1F3B"/>
                </a:solidFill>
                <a:latin typeface="Calibri"/>
                <a:ea typeface="Calibri"/>
                <a:cs typeface="Calibri"/>
              </a:defRPr>
            </a:lvl9pPr>
          </a:lstStyle>
          <a:p xmlns:a="http://schemas.openxmlformats.org/drawingml/2006/main">
            <a:pPr algn="l">
              <a:defRPr sz="1575" b="0">
                <a:solidFill>
                  <a:srgbClr val="1B1F3B"/>
                </a:solidFill>
                <a:latin typeface="Calibri"/>
                <a:ea typeface="Calibri"/>
                <a:cs typeface="Calibri"/>
              </a:defRPr>
            </a:pPr>
            <a:r>
              <a:rPr sz="1575" b="0">
                <a:solidFill>
                  <a:srgbClr val="1B1F3B"/>
                </a:solidFill>
                <a:latin typeface="Calibri"/>
                <a:ea typeface="Calibri"/>
                <a:cs typeface="Calibri"/>
              </a:rPr>
              <a:t>Preserve raw records, validate fields and audit duplicate removal.</a:t>
            </a:r>
          </a:p>
        </p:txBody>
      </p:sp>
      <p:sp>
        <p:nvSpPr>
          <p:cNvPr id="158" name="">
            <a:extLst xmlns:a="http://schemas.openxmlformats.org/drawingml/2006/main">
              <a:ext uri="{FF2B5EF4-FFF2-40B4-BE49-F238E27FC236}">
                <a16:creationId xmlns:a16="http://schemas.microsoft.com/office/drawing/2014/main" id="{DC7A5A08-9CA8-44D9-9071-6BE334154C9F}"/>
              </a:ext>
            </a:extLst>
          </p:cNvPr>
          <p:cNvSpPr>
            <a:spLocks xmlns:a="http://schemas.openxmlformats.org/drawingml/2006/main" noGrp="1"/>
          </p:cNvSpPr>
          <p:nvPr/>
        </p:nvSpPr>
        <p:spPr>
          <a:xfrm xmlns:a="http://schemas.openxmlformats.org/drawingml/2006/main">
            <a:off x="1487805" y="2684145"/>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21295C"/>
                </a:solidFill>
                <a:latin typeface="Calibri"/>
                <a:ea typeface="Calibri"/>
                <a:cs typeface="Calibri"/>
              </a:defRPr>
            </a:defPPr>
            <a:lvl1pPr algn="l">
              <a:defRPr sz="1650" b="1">
                <a:solidFill>
                  <a:srgbClr val="21295C"/>
                </a:solidFill>
                <a:latin typeface="Calibri"/>
                <a:ea typeface="Calibri"/>
                <a:cs typeface="Calibri"/>
              </a:defRPr>
            </a:lvl1pPr>
            <a:lvl2pPr algn="l">
              <a:defRPr sz="1650" b="1">
                <a:solidFill>
                  <a:srgbClr val="21295C"/>
                </a:solidFill>
                <a:latin typeface="Calibri"/>
                <a:ea typeface="Calibri"/>
                <a:cs typeface="Calibri"/>
              </a:defRPr>
            </a:lvl2pPr>
            <a:lvl3pPr algn="l">
              <a:defRPr sz="1650" b="1">
                <a:solidFill>
                  <a:srgbClr val="21295C"/>
                </a:solidFill>
                <a:latin typeface="Calibri"/>
                <a:ea typeface="Calibri"/>
                <a:cs typeface="Calibri"/>
              </a:defRPr>
            </a:lvl3pPr>
            <a:lvl4pPr algn="l">
              <a:defRPr sz="1650" b="1">
                <a:solidFill>
                  <a:srgbClr val="21295C"/>
                </a:solidFill>
                <a:latin typeface="Calibri"/>
                <a:ea typeface="Calibri"/>
                <a:cs typeface="Calibri"/>
              </a:defRPr>
            </a:lvl4pPr>
            <a:lvl5pPr algn="l">
              <a:defRPr sz="1650" b="1">
                <a:solidFill>
                  <a:srgbClr val="21295C"/>
                </a:solidFill>
                <a:latin typeface="Calibri"/>
                <a:ea typeface="Calibri"/>
                <a:cs typeface="Calibri"/>
              </a:defRPr>
            </a:lvl5pPr>
            <a:lvl6pPr algn="l">
              <a:defRPr sz="1650" b="1">
                <a:solidFill>
                  <a:srgbClr val="21295C"/>
                </a:solidFill>
                <a:latin typeface="Calibri"/>
                <a:ea typeface="Calibri"/>
                <a:cs typeface="Calibri"/>
              </a:defRPr>
            </a:lvl6pPr>
            <a:lvl7pPr algn="l">
              <a:defRPr sz="1650" b="1">
                <a:solidFill>
                  <a:srgbClr val="21295C"/>
                </a:solidFill>
                <a:latin typeface="Calibri"/>
                <a:ea typeface="Calibri"/>
                <a:cs typeface="Calibri"/>
              </a:defRPr>
            </a:lvl7pPr>
            <a:lvl8pPr algn="l">
              <a:defRPr sz="1650" b="1">
                <a:solidFill>
                  <a:srgbClr val="21295C"/>
                </a:solidFill>
                <a:latin typeface="Calibri"/>
                <a:ea typeface="Calibri"/>
                <a:cs typeface="Calibri"/>
              </a:defRPr>
            </a:lvl8pPr>
            <a:lvl9pPr algn="l">
              <a:defRPr sz="1650" b="1">
                <a:solidFill>
                  <a:srgbClr val="21295C"/>
                </a:solidFill>
                <a:latin typeface="Calibri"/>
                <a:ea typeface="Calibri"/>
                <a:cs typeface="Calibri"/>
              </a:defRPr>
            </a:lvl9pPr>
          </a:lstStyle>
          <a:p xmlns:a="http://schemas.openxmlformats.org/drawingml/2006/main">
            <a:pPr algn="l">
              <a:defRPr sz="1650" b="1">
                <a:solidFill>
                  <a:srgbClr val="21295C"/>
                </a:solidFill>
                <a:latin typeface="Calibri"/>
                <a:ea typeface="Calibri"/>
                <a:cs typeface="Calibri"/>
              </a:defRPr>
            </a:pPr>
            <a:r>
              <a:rPr sz="1650" b="1">
                <a:solidFill>
                  <a:srgbClr val="21295C"/>
                </a:solidFill>
                <a:latin typeface="Calibri"/>
                <a:ea typeface="Calibri"/>
                <a:cs typeface="Calibri"/>
              </a:rPr>
              <a:t>Model development</a:t>
            </a:r>
          </a:p>
        </p:txBody>
      </p:sp>
      <p:sp>
        <p:nvSpPr>
          <p:cNvPr id="159" name="">
            <a:extLst xmlns:a="http://schemas.openxmlformats.org/drawingml/2006/main">
              <a:ext uri="{FF2B5EF4-FFF2-40B4-BE49-F238E27FC236}">
                <a16:creationId xmlns:a16="http://schemas.microsoft.com/office/drawing/2014/main" id="{7DDA4BDB-2E09-411E-9CA1-66C2CEF36D54}"/>
              </a:ext>
            </a:extLst>
          </p:cNvPr>
          <p:cNvSpPr>
            <a:spLocks xmlns:a="http://schemas.openxmlformats.org/drawingml/2006/main" noGrp="1"/>
          </p:cNvSpPr>
          <p:nvPr/>
        </p:nvSpPr>
        <p:spPr>
          <a:xfrm xmlns:a="http://schemas.openxmlformats.org/drawingml/2006/main">
            <a:off x="3850005" y="2684145"/>
            <a:ext cx="6882860" cy="634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1B1F3B"/>
                </a:solidFill>
                <a:latin typeface="Calibri"/>
                <a:ea typeface="Calibri"/>
                <a:cs typeface="Calibri"/>
              </a:defRPr>
            </a:defPPr>
            <a:lvl1pPr algn="l">
              <a:defRPr sz="1575" b="0">
                <a:solidFill>
                  <a:srgbClr val="1B1F3B"/>
                </a:solidFill>
                <a:latin typeface="Calibri"/>
                <a:ea typeface="Calibri"/>
                <a:cs typeface="Calibri"/>
              </a:defRPr>
            </a:lvl1pPr>
            <a:lvl2pPr algn="l">
              <a:defRPr sz="1575" b="0">
                <a:solidFill>
                  <a:srgbClr val="1B1F3B"/>
                </a:solidFill>
                <a:latin typeface="Calibri"/>
                <a:ea typeface="Calibri"/>
                <a:cs typeface="Calibri"/>
              </a:defRPr>
            </a:lvl2pPr>
            <a:lvl3pPr algn="l">
              <a:defRPr sz="1575" b="0">
                <a:solidFill>
                  <a:srgbClr val="1B1F3B"/>
                </a:solidFill>
                <a:latin typeface="Calibri"/>
                <a:ea typeface="Calibri"/>
                <a:cs typeface="Calibri"/>
              </a:defRPr>
            </a:lvl3pPr>
            <a:lvl4pPr algn="l">
              <a:defRPr sz="1575" b="0">
                <a:solidFill>
                  <a:srgbClr val="1B1F3B"/>
                </a:solidFill>
                <a:latin typeface="Calibri"/>
                <a:ea typeface="Calibri"/>
                <a:cs typeface="Calibri"/>
              </a:defRPr>
            </a:lvl4pPr>
            <a:lvl5pPr algn="l">
              <a:defRPr sz="1575" b="0">
                <a:solidFill>
                  <a:srgbClr val="1B1F3B"/>
                </a:solidFill>
                <a:latin typeface="Calibri"/>
                <a:ea typeface="Calibri"/>
                <a:cs typeface="Calibri"/>
              </a:defRPr>
            </a:lvl5pPr>
            <a:lvl6pPr algn="l">
              <a:defRPr sz="1575" b="0">
                <a:solidFill>
                  <a:srgbClr val="1B1F3B"/>
                </a:solidFill>
                <a:latin typeface="Calibri"/>
                <a:ea typeface="Calibri"/>
                <a:cs typeface="Calibri"/>
              </a:defRPr>
            </a:lvl6pPr>
            <a:lvl7pPr algn="l">
              <a:defRPr sz="1575" b="0">
                <a:solidFill>
                  <a:srgbClr val="1B1F3B"/>
                </a:solidFill>
                <a:latin typeface="Calibri"/>
                <a:ea typeface="Calibri"/>
                <a:cs typeface="Calibri"/>
              </a:defRPr>
            </a:lvl7pPr>
            <a:lvl8pPr algn="l">
              <a:defRPr sz="1575" b="0">
                <a:solidFill>
                  <a:srgbClr val="1B1F3B"/>
                </a:solidFill>
                <a:latin typeface="Calibri"/>
                <a:ea typeface="Calibri"/>
                <a:cs typeface="Calibri"/>
              </a:defRPr>
            </a:lvl8pPr>
            <a:lvl9pPr algn="l">
              <a:defRPr sz="1575" b="0">
                <a:solidFill>
                  <a:srgbClr val="1B1F3B"/>
                </a:solidFill>
                <a:latin typeface="Calibri"/>
                <a:ea typeface="Calibri"/>
                <a:cs typeface="Calibri"/>
              </a:defRPr>
            </a:lvl9pPr>
          </a:lstStyle>
          <a:p xmlns:a="http://schemas.openxmlformats.org/drawingml/2006/main">
            <a:pPr algn="l">
              <a:defRPr sz="1575" b="0">
                <a:solidFill>
                  <a:srgbClr val="1B1F3B"/>
                </a:solidFill>
                <a:latin typeface="Calibri"/>
                <a:ea typeface="Calibri"/>
                <a:cs typeface="Calibri"/>
              </a:defRPr>
            </a:pPr>
            <a:r>
              <a:rPr sz="1575" b="0">
                <a:solidFill>
                  <a:srgbClr val="1B1F3B"/>
                </a:solidFill>
                <a:latin typeface="Calibri"/>
                <a:ea typeface="Calibri"/>
                <a:cs typeface="Calibri"/>
              </a:rPr>
              <a:t>Encode categories in a pipeline and select models through cross-validation.</a:t>
            </a:r>
          </a:p>
        </p:txBody>
      </p:sp>
      <p:sp>
        <p:nvSpPr>
          <p:cNvPr id="160" name="">
            <a:extLst xmlns:a="http://schemas.openxmlformats.org/drawingml/2006/main">
              <a:ext uri="{FF2B5EF4-FFF2-40B4-BE49-F238E27FC236}">
                <a16:creationId xmlns:a16="http://schemas.microsoft.com/office/drawing/2014/main" id="{AA8A3192-B688-47E4-A57D-E6DEA2AA7175}"/>
              </a:ext>
            </a:extLst>
          </p:cNvPr>
          <p:cNvSpPr>
            <a:spLocks xmlns:a="http://schemas.openxmlformats.org/drawingml/2006/main" noGrp="1"/>
          </p:cNvSpPr>
          <p:nvPr/>
        </p:nvSpPr>
        <p:spPr>
          <a:xfrm xmlns:a="http://schemas.openxmlformats.org/drawingml/2006/main">
            <a:off x="1487805" y="3644265"/>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21295C"/>
                </a:solidFill>
                <a:latin typeface="Calibri"/>
                <a:ea typeface="Calibri"/>
                <a:cs typeface="Calibri"/>
              </a:defRPr>
            </a:defPPr>
            <a:lvl1pPr algn="l">
              <a:defRPr sz="1650" b="1">
                <a:solidFill>
                  <a:srgbClr val="21295C"/>
                </a:solidFill>
                <a:latin typeface="Calibri"/>
                <a:ea typeface="Calibri"/>
                <a:cs typeface="Calibri"/>
              </a:defRPr>
            </a:lvl1pPr>
            <a:lvl2pPr algn="l">
              <a:defRPr sz="1650" b="1">
                <a:solidFill>
                  <a:srgbClr val="21295C"/>
                </a:solidFill>
                <a:latin typeface="Calibri"/>
                <a:ea typeface="Calibri"/>
                <a:cs typeface="Calibri"/>
              </a:defRPr>
            </a:lvl2pPr>
            <a:lvl3pPr algn="l">
              <a:defRPr sz="1650" b="1">
                <a:solidFill>
                  <a:srgbClr val="21295C"/>
                </a:solidFill>
                <a:latin typeface="Calibri"/>
                <a:ea typeface="Calibri"/>
                <a:cs typeface="Calibri"/>
              </a:defRPr>
            </a:lvl3pPr>
            <a:lvl4pPr algn="l">
              <a:defRPr sz="1650" b="1">
                <a:solidFill>
                  <a:srgbClr val="21295C"/>
                </a:solidFill>
                <a:latin typeface="Calibri"/>
                <a:ea typeface="Calibri"/>
                <a:cs typeface="Calibri"/>
              </a:defRPr>
            </a:lvl4pPr>
            <a:lvl5pPr algn="l">
              <a:defRPr sz="1650" b="1">
                <a:solidFill>
                  <a:srgbClr val="21295C"/>
                </a:solidFill>
                <a:latin typeface="Calibri"/>
                <a:ea typeface="Calibri"/>
                <a:cs typeface="Calibri"/>
              </a:defRPr>
            </a:lvl5pPr>
            <a:lvl6pPr algn="l">
              <a:defRPr sz="1650" b="1">
                <a:solidFill>
                  <a:srgbClr val="21295C"/>
                </a:solidFill>
                <a:latin typeface="Calibri"/>
                <a:ea typeface="Calibri"/>
                <a:cs typeface="Calibri"/>
              </a:defRPr>
            </a:lvl6pPr>
            <a:lvl7pPr algn="l">
              <a:defRPr sz="1650" b="1">
                <a:solidFill>
                  <a:srgbClr val="21295C"/>
                </a:solidFill>
                <a:latin typeface="Calibri"/>
                <a:ea typeface="Calibri"/>
                <a:cs typeface="Calibri"/>
              </a:defRPr>
            </a:lvl7pPr>
            <a:lvl8pPr algn="l">
              <a:defRPr sz="1650" b="1">
                <a:solidFill>
                  <a:srgbClr val="21295C"/>
                </a:solidFill>
                <a:latin typeface="Calibri"/>
                <a:ea typeface="Calibri"/>
                <a:cs typeface="Calibri"/>
              </a:defRPr>
            </a:lvl8pPr>
            <a:lvl9pPr algn="l">
              <a:defRPr sz="1650" b="1">
                <a:solidFill>
                  <a:srgbClr val="21295C"/>
                </a:solidFill>
                <a:latin typeface="Calibri"/>
                <a:ea typeface="Calibri"/>
                <a:cs typeface="Calibri"/>
              </a:defRPr>
            </a:lvl9pPr>
          </a:lstStyle>
          <a:p xmlns:a="http://schemas.openxmlformats.org/drawingml/2006/main">
            <a:pPr algn="l">
              <a:defRPr sz="1650" b="1">
                <a:solidFill>
                  <a:srgbClr val="21295C"/>
                </a:solidFill>
                <a:latin typeface="Calibri"/>
                <a:ea typeface="Calibri"/>
                <a:cs typeface="Calibri"/>
              </a:defRPr>
            </a:pPr>
            <a:r>
              <a:rPr sz="1650" b="1">
                <a:solidFill>
                  <a:srgbClr val="21295C"/>
                </a:solidFill>
                <a:latin typeface="Calibri"/>
                <a:ea typeface="Calibri"/>
                <a:cs typeface="Calibri"/>
              </a:rPr>
              <a:t>Evaluation</a:t>
            </a:r>
          </a:p>
        </p:txBody>
      </p:sp>
      <p:sp>
        <p:nvSpPr>
          <p:cNvPr id="161" name="">
            <a:extLst xmlns:a="http://schemas.openxmlformats.org/drawingml/2006/main">
              <a:ext uri="{FF2B5EF4-FFF2-40B4-BE49-F238E27FC236}">
                <a16:creationId xmlns:a16="http://schemas.microsoft.com/office/drawing/2014/main" id="{90107C89-D055-4A6D-8D75-42ACD47F0649}"/>
              </a:ext>
            </a:extLst>
          </p:cNvPr>
          <p:cNvSpPr>
            <a:spLocks xmlns:a="http://schemas.openxmlformats.org/drawingml/2006/main" noGrp="1"/>
          </p:cNvSpPr>
          <p:nvPr/>
        </p:nvSpPr>
        <p:spPr>
          <a:xfrm xmlns:a="http://schemas.openxmlformats.org/drawingml/2006/main">
            <a:off x="3850005" y="3644265"/>
            <a:ext cx="6882860" cy="634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1B1F3B"/>
                </a:solidFill>
                <a:latin typeface="Calibri"/>
                <a:ea typeface="Calibri"/>
                <a:cs typeface="Calibri"/>
              </a:defRPr>
            </a:defPPr>
            <a:lvl1pPr algn="l">
              <a:defRPr sz="1575" b="0">
                <a:solidFill>
                  <a:srgbClr val="1B1F3B"/>
                </a:solidFill>
                <a:latin typeface="Calibri"/>
                <a:ea typeface="Calibri"/>
                <a:cs typeface="Calibri"/>
              </a:defRPr>
            </a:lvl1pPr>
            <a:lvl2pPr algn="l">
              <a:defRPr sz="1575" b="0">
                <a:solidFill>
                  <a:srgbClr val="1B1F3B"/>
                </a:solidFill>
                <a:latin typeface="Calibri"/>
                <a:ea typeface="Calibri"/>
                <a:cs typeface="Calibri"/>
              </a:defRPr>
            </a:lvl2pPr>
            <a:lvl3pPr algn="l">
              <a:defRPr sz="1575" b="0">
                <a:solidFill>
                  <a:srgbClr val="1B1F3B"/>
                </a:solidFill>
                <a:latin typeface="Calibri"/>
                <a:ea typeface="Calibri"/>
                <a:cs typeface="Calibri"/>
              </a:defRPr>
            </a:lvl3pPr>
            <a:lvl4pPr algn="l">
              <a:defRPr sz="1575" b="0">
                <a:solidFill>
                  <a:srgbClr val="1B1F3B"/>
                </a:solidFill>
                <a:latin typeface="Calibri"/>
                <a:ea typeface="Calibri"/>
                <a:cs typeface="Calibri"/>
              </a:defRPr>
            </a:lvl4pPr>
            <a:lvl5pPr algn="l">
              <a:defRPr sz="1575" b="0">
                <a:solidFill>
                  <a:srgbClr val="1B1F3B"/>
                </a:solidFill>
                <a:latin typeface="Calibri"/>
                <a:ea typeface="Calibri"/>
                <a:cs typeface="Calibri"/>
              </a:defRPr>
            </a:lvl5pPr>
            <a:lvl6pPr algn="l">
              <a:defRPr sz="1575" b="0">
                <a:solidFill>
                  <a:srgbClr val="1B1F3B"/>
                </a:solidFill>
                <a:latin typeface="Calibri"/>
                <a:ea typeface="Calibri"/>
                <a:cs typeface="Calibri"/>
              </a:defRPr>
            </a:lvl6pPr>
            <a:lvl7pPr algn="l">
              <a:defRPr sz="1575" b="0">
                <a:solidFill>
                  <a:srgbClr val="1B1F3B"/>
                </a:solidFill>
                <a:latin typeface="Calibri"/>
                <a:ea typeface="Calibri"/>
                <a:cs typeface="Calibri"/>
              </a:defRPr>
            </a:lvl7pPr>
            <a:lvl8pPr algn="l">
              <a:defRPr sz="1575" b="0">
                <a:solidFill>
                  <a:srgbClr val="1B1F3B"/>
                </a:solidFill>
                <a:latin typeface="Calibri"/>
                <a:ea typeface="Calibri"/>
                <a:cs typeface="Calibri"/>
              </a:defRPr>
            </a:lvl8pPr>
            <a:lvl9pPr algn="l">
              <a:defRPr sz="1575" b="0">
                <a:solidFill>
                  <a:srgbClr val="1B1F3B"/>
                </a:solidFill>
                <a:latin typeface="Calibri"/>
                <a:ea typeface="Calibri"/>
                <a:cs typeface="Calibri"/>
              </a:defRPr>
            </a:lvl9pPr>
          </a:lstStyle>
          <a:p xmlns:a="http://schemas.openxmlformats.org/drawingml/2006/main">
            <a:pPr algn="l">
              <a:defRPr sz="1575" b="0">
                <a:solidFill>
                  <a:srgbClr val="1B1F3B"/>
                </a:solidFill>
                <a:latin typeface="Calibri"/>
                <a:ea typeface="Calibri"/>
                <a:cs typeface="Calibri"/>
              </a:defRPr>
            </a:pPr>
            <a:r>
              <a:rPr sz="1575" b="0">
                <a:solidFill>
                  <a:srgbClr val="1B1F3B"/>
                </a:solidFill>
                <a:latin typeface="Calibri"/>
                <a:ea typeface="Calibri"/>
                <a:cs typeface="Calibri"/>
              </a:rPr>
              <a:t>Interpret MAE, RMSE and R², and keep test records out of selection.</a:t>
            </a:r>
          </a:p>
        </p:txBody>
      </p:sp>
      <p:sp>
        <p:nvSpPr>
          <p:cNvPr id="162" name="">
            <a:extLst xmlns:a="http://schemas.openxmlformats.org/drawingml/2006/main">
              <a:ext uri="{FF2B5EF4-FFF2-40B4-BE49-F238E27FC236}">
                <a16:creationId xmlns:a16="http://schemas.microsoft.com/office/drawing/2014/main" id="{9DFCE9AE-D8EE-4925-90D3-DB4ADFDDB895}"/>
              </a:ext>
            </a:extLst>
          </p:cNvPr>
          <p:cNvSpPr>
            <a:spLocks xmlns:a="http://schemas.openxmlformats.org/drawingml/2006/main" noGrp="1"/>
          </p:cNvSpPr>
          <p:nvPr/>
        </p:nvSpPr>
        <p:spPr>
          <a:xfrm xmlns:a="http://schemas.openxmlformats.org/drawingml/2006/main">
            <a:off x="1487805" y="4604385"/>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21295C"/>
                </a:solidFill>
                <a:latin typeface="Calibri"/>
                <a:ea typeface="Calibri"/>
                <a:cs typeface="Calibri"/>
              </a:defRPr>
            </a:defPPr>
            <a:lvl1pPr algn="l">
              <a:defRPr sz="1650" b="1">
                <a:solidFill>
                  <a:srgbClr val="21295C"/>
                </a:solidFill>
                <a:latin typeface="Calibri"/>
                <a:ea typeface="Calibri"/>
                <a:cs typeface="Calibri"/>
              </a:defRPr>
            </a:lvl1pPr>
            <a:lvl2pPr algn="l">
              <a:defRPr sz="1650" b="1">
                <a:solidFill>
                  <a:srgbClr val="21295C"/>
                </a:solidFill>
                <a:latin typeface="Calibri"/>
                <a:ea typeface="Calibri"/>
                <a:cs typeface="Calibri"/>
              </a:defRPr>
            </a:lvl2pPr>
            <a:lvl3pPr algn="l">
              <a:defRPr sz="1650" b="1">
                <a:solidFill>
                  <a:srgbClr val="21295C"/>
                </a:solidFill>
                <a:latin typeface="Calibri"/>
                <a:ea typeface="Calibri"/>
                <a:cs typeface="Calibri"/>
              </a:defRPr>
            </a:lvl3pPr>
            <a:lvl4pPr algn="l">
              <a:defRPr sz="1650" b="1">
                <a:solidFill>
                  <a:srgbClr val="21295C"/>
                </a:solidFill>
                <a:latin typeface="Calibri"/>
                <a:ea typeface="Calibri"/>
                <a:cs typeface="Calibri"/>
              </a:defRPr>
            </a:lvl4pPr>
            <a:lvl5pPr algn="l">
              <a:defRPr sz="1650" b="1">
                <a:solidFill>
                  <a:srgbClr val="21295C"/>
                </a:solidFill>
                <a:latin typeface="Calibri"/>
                <a:ea typeface="Calibri"/>
                <a:cs typeface="Calibri"/>
              </a:defRPr>
            </a:lvl5pPr>
            <a:lvl6pPr algn="l">
              <a:defRPr sz="1650" b="1">
                <a:solidFill>
                  <a:srgbClr val="21295C"/>
                </a:solidFill>
                <a:latin typeface="Calibri"/>
                <a:ea typeface="Calibri"/>
                <a:cs typeface="Calibri"/>
              </a:defRPr>
            </a:lvl6pPr>
            <a:lvl7pPr algn="l">
              <a:defRPr sz="1650" b="1">
                <a:solidFill>
                  <a:srgbClr val="21295C"/>
                </a:solidFill>
                <a:latin typeface="Calibri"/>
                <a:ea typeface="Calibri"/>
                <a:cs typeface="Calibri"/>
              </a:defRPr>
            </a:lvl7pPr>
            <a:lvl8pPr algn="l">
              <a:defRPr sz="1650" b="1">
                <a:solidFill>
                  <a:srgbClr val="21295C"/>
                </a:solidFill>
                <a:latin typeface="Calibri"/>
                <a:ea typeface="Calibri"/>
                <a:cs typeface="Calibri"/>
              </a:defRPr>
            </a:lvl8pPr>
            <a:lvl9pPr algn="l">
              <a:defRPr sz="1650" b="1">
                <a:solidFill>
                  <a:srgbClr val="21295C"/>
                </a:solidFill>
                <a:latin typeface="Calibri"/>
                <a:ea typeface="Calibri"/>
                <a:cs typeface="Calibri"/>
              </a:defRPr>
            </a:lvl9pPr>
          </a:lstStyle>
          <a:p xmlns:a="http://schemas.openxmlformats.org/drawingml/2006/main">
            <a:pPr algn="l">
              <a:defRPr sz="1650" b="1">
                <a:solidFill>
                  <a:srgbClr val="21295C"/>
                </a:solidFill>
                <a:latin typeface="Calibri"/>
                <a:ea typeface="Calibri"/>
                <a:cs typeface="Calibri"/>
              </a:defRPr>
            </a:pPr>
            <a:r>
              <a:rPr sz="1650" b="1">
                <a:solidFill>
                  <a:srgbClr val="21295C"/>
                </a:solidFill>
                <a:latin typeface="Calibri"/>
                <a:ea typeface="Calibri"/>
                <a:cs typeface="Calibri"/>
              </a:rPr>
              <a:t>Application delivery</a:t>
            </a:r>
          </a:p>
        </p:txBody>
      </p:sp>
      <p:sp>
        <p:nvSpPr>
          <p:cNvPr id="163" name="">
            <a:extLst xmlns:a="http://schemas.openxmlformats.org/drawingml/2006/main">
              <a:ext uri="{FF2B5EF4-FFF2-40B4-BE49-F238E27FC236}">
                <a16:creationId xmlns:a16="http://schemas.microsoft.com/office/drawing/2014/main" id="{C3DA5CBC-F5AA-4825-B14F-3882CB82A25A}"/>
              </a:ext>
            </a:extLst>
          </p:cNvPr>
          <p:cNvSpPr>
            <a:spLocks xmlns:a="http://schemas.openxmlformats.org/drawingml/2006/main" noGrp="1"/>
          </p:cNvSpPr>
          <p:nvPr/>
        </p:nvSpPr>
        <p:spPr>
          <a:xfrm xmlns:a="http://schemas.openxmlformats.org/drawingml/2006/main">
            <a:off x="3850005" y="4604385"/>
            <a:ext cx="6882860" cy="634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1B1F3B"/>
                </a:solidFill>
                <a:latin typeface="Calibri"/>
                <a:ea typeface="Calibri"/>
                <a:cs typeface="Calibri"/>
              </a:defRPr>
            </a:defPPr>
            <a:lvl1pPr algn="l">
              <a:defRPr sz="1575" b="0">
                <a:solidFill>
                  <a:srgbClr val="1B1F3B"/>
                </a:solidFill>
                <a:latin typeface="Calibri"/>
                <a:ea typeface="Calibri"/>
                <a:cs typeface="Calibri"/>
              </a:defRPr>
            </a:lvl1pPr>
            <a:lvl2pPr algn="l">
              <a:defRPr sz="1575" b="0">
                <a:solidFill>
                  <a:srgbClr val="1B1F3B"/>
                </a:solidFill>
                <a:latin typeface="Calibri"/>
                <a:ea typeface="Calibri"/>
                <a:cs typeface="Calibri"/>
              </a:defRPr>
            </a:lvl2pPr>
            <a:lvl3pPr algn="l">
              <a:defRPr sz="1575" b="0">
                <a:solidFill>
                  <a:srgbClr val="1B1F3B"/>
                </a:solidFill>
                <a:latin typeface="Calibri"/>
                <a:ea typeface="Calibri"/>
                <a:cs typeface="Calibri"/>
              </a:defRPr>
            </a:lvl3pPr>
            <a:lvl4pPr algn="l">
              <a:defRPr sz="1575" b="0">
                <a:solidFill>
                  <a:srgbClr val="1B1F3B"/>
                </a:solidFill>
                <a:latin typeface="Calibri"/>
                <a:ea typeface="Calibri"/>
                <a:cs typeface="Calibri"/>
              </a:defRPr>
            </a:lvl4pPr>
            <a:lvl5pPr algn="l">
              <a:defRPr sz="1575" b="0">
                <a:solidFill>
                  <a:srgbClr val="1B1F3B"/>
                </a:solidFill>
                <a:latin typeface="Calibri"/>
                <a:ea typeface="Calibri"/>
                <a:cs typeface="Calibri"/>
              </a:defRPr>
            </a:lvl5pPr>
            <a:lvl6pPr algn="l">
              <a:defRPr sz="1575" b="0">
                <a:solidFill>
                  <a:srgbClr val="1B1F3B"/>
                </a:solidFill>
                <a:latin typeface="Calibri"/>
                <a:ea typeface="Calibri"/>
                <a:cs typeface="Calibri"/>
              </a:defRPr>
            </a:lvl6pPr>
            <a:lvl7pPr algn="l">
              <a:defRPr sz="1575" b="0">
                <a:solidFill>
                  <a:srgbClr val="1B1F3B"/>
                </a:solidFill>
                <a:latin typeface="Calibri"/>
                <a:ea typeface="Calibri"/>
                <a:cs typeface="Calibri"/>
              </a:defRPr>
            </a:lvl7pPr>
            <a:lvl8pPr algn="l">
              <a:defRPr sz="1575" b="0">
                <a:solidFill>
                  <a:srgbClr val="1B1F3B"/>
                </a:solidFill>
                <a:latin typeface="Calibri"/>
                <a:ea typeface="Calibri"/>
                <a:cs typeface="Calibri"/>
              </a:defRPr>
            </a:lvl8pPr>
            <a:lvl9pPr algn="l">
              <a:defRPr sz="1575" b="0">
                <a:solidFill>
                  <a:srgbClr val="1B1F3B"/>
                </a:solidFill>
                <a:latin typeface="Calibri"/>
                <a:ea typeface="Calibri"/>
                <a:cs typeface="Calibri"/>
              </a:defRPr>
            </a:lvl9pPr>
          </a:lstStyle>
          <a:p xmlns:a="http://schemas.openxmlformats.org/drawingml/2006/main">
            <a:pPr algn="l">
              <a:defRPr sz="1575" b="0">
                <a:solidFill>
                  <a:srgbClr val="1B1F3B"/>
                </a:solidFill>
                <a:latin typeface="Calibri"/>
                <a:ea typeface="Calibri"/>
                <a:cs typeface="Calibri"/>
              </a:defRPr>
            </a:pPr>
            <a:r>
              <a:rPr sz="1575" b="0">
                <a:solidFill>
                  <a:srgbClr val="1B1F3B"/>
                </a:solidFill>
                <a:latin typeface="Calibri"/>
                <a:ea typeface="Calibri"/>
                <a:cs typeface="Calibri"/>
              </a:rPr>
              <a:t>Connect saved-model inference to a working form and CSV interface.</a:t>
            </a:r>
          </a:p>
        </p:txBody>
      </p:sp>
    </p:spTree>
    <p:extLst>
      <p:ext uri="{BB962C8B-B14F-4D97-AF65-F5344CB8AC3E}">
        <p14:creationId xmlns:p14="http://schemas.microsoft.com/office/powerpoint/2010/main" val="1811022818"/>
      </p:ext>
    </p:extLst>
  </p:cSld>
</p:sld>
</file>

<file path=ppt/slides/slide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61" name="Google Shape;161;p11">
            <a:extLst xmlns:a="http://schemas.openxmlformats.org/drawingml/2006/main">
              <a:ext uri="{FF2B5EF4-FFF2-40B4-BE49-F238E27FC236}">
                <a16:creationId xmlns:a16="http://schemas.microsoft.com/office/drawing/2014/main" id="{0BB6BD65-5CC0-49DB-90CF-129D7452B580}"/>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2" name="Google Shape;162;p11">
            <a:extLst xmlns:a="http://schemas.openxmlformats.org/drawingml/2006/main">
              <a:ext uri="{FF2B5EF4-FFF2-40B4-BE49-F238E27FC236}">
                <a16:creationId xmlns:a16="http://schemas.microsoft.com/office/drawing/2014/main" id="{890FE18D-0E6F-43FB-AF28-E8B7DA2BC5D1}"/>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3" name="Google Shape;163;p11">
            <a:extLst xmlns:a="http://schemas.openxmlformats.org/drawingml/2006/main">
              <a:ext uri="{FF2B5EF4-FFF2-40B4-BE49-F238E27FC236}">
                <a16:creationId xmlns:a16="http://schemas.microsoft.com/office/drawing/2014/main" id="{EB68E8AB-00EA-4555-994D-549E1B065FB4}"/>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4" name="Google Shape;164;p11">
            <a:extLst xmlns:a="http://schemas.openxmlformats.org/drawingml/2006/main">
              <a:ext uri="{FF2B5EF4-FFF2-40B4-BE49-F238E27FC236}">
                <a16:creationId xmlns:a16="http://schemas.microsoft.com/office/drawing/2014/main" id="{15F81B57-3B77-4BE8-A3AF-D5887FE802EB}"/>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strike="noStrike" cap="none">
                <a:solidFill>
                  <a:srgbClr val="FFFFFF"/>
                </a:solidFill>
                <a:latin typeface="Calibri"/>
                <a:ea typeface="Calibri"/>
                <a:cs typeface="Calibri"/>
              </a:rPr>
              <a:t>08</a:t>
            </a:r>
            <a:endParaRPr sz="1600" b="0" i="0" u="none" strike="noStrike" cap="none">
              <a:solidFill>
                <a:schemeClr val="dk1"/>
              </a:solidFill>
              <a:latin typeface="Calibri"/>
              <a:ea typeface="Calibri"/>
              <a:cs typeface="Calibri"/>
            </a:endParaRPr>
          </a:p>
        </p:txBody>
      </p:sp>
      <p:sp>
        <p:nvSpPr>
          <p:cNvPr id="165" name="Google Shape;165;p11">
            <a:extLst xmlns:a="http://schemas.openxmlformats.org/drawingml/2006/main">
              <a:ext uri="{FF2B5EF4-FFF2-40B4-BE49-F238E27FC236}">
                <a16:creationId xmlns:a16="http://schemas.microsoft.com/office/drawing/2014/main" id="{059D18F6-5F14-445B-AAC1-52C45EAD18DD}"/>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strike="noStrike" cap="none">
                <a:solidFill>
                  <a:srgbClr val="1C7293"/>
                </a:solidFill>
                <a:latin typeface="Calibri"/>
                <a:ea typeface="Calibri"/>
                <a:cs typeface="Calibri"/>
              </a:rPr>
              <a:t>SECTION 08</a:t>
            </a:r>
            <a:endParaRPr sz="1100" b="0" i="0" u="none" strike="noStrike" cap="none">
              <a:solidFill>
                <a:schemeClr val="dk1"/>
              </a:solidFill>
              <a:latin typeface="Calibri"/>
              <a:ea typeface="Calibri"/>
              <a:cs typeface="Calibri"/>
            </a:endParaRPr>
          </a:p>
        </p:txBody>
      </p:sp>
      <p:sp>
        <p:nvSpPr>
          <p:cNvPr id="166" name="Google Shape;166;p11">
            <a:extLst xmlns:a="http://schemas.openxmlformats.org/drawingml/2006/main">
              <a:ext uri="{FF2B5EF4-FFF2-40B4-BE49-F238E27FC236}">
                <a16:creationId xmlns:a16="http://schemas.microsoft.com/office/drawing/2014/main" id="{EB37F4EC-9A83-4C26-B31E-24410A10CD42}"/>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strike="noStrike" cap="none">
                <a:solidFill>
                  <a:srgbClr val="21295C"/>
                </a:solidFill>
                <a:latin typeface="Cambria"/>
                <a:ea typeface="Cambria"/>
                <a:cs typeface="Cambria"/>
              </a:rPr>
              <a:t>Documents and Submission Status</a:t>
            </a:r>
            <a:endParaRPr sz="3000" b="0" i="0" u="none" strike="noStrike" cap="none">
              <a:solidFill>
                <a:schemeClr val="dk1"/>
              </a:solidFill>
              <a:latin typeface="Calibri"/>
              <a:ea typeface="Calibri"/>
              <a:cs typeface="Calibri"/>
            </a:endParaRPr>
          </a:p>
        </p:txBody>
      </p:sp>
      <p:sp>
        <p:nvSpPr>
          <p:cNvPr id="167" name="Google Shape;167;p11">
            <a:extLst xmlns:a="http://schemas.openxmlformats.org/drawingml/2006/main">
              <a:ext uri="{FF2B5EF4-FFF2-40B4-BE49-F238E27FC236}">
                <a16:creationId xmlns:a16="http://schemas.microsoft.com/office/drawing/2014/main" id="{8D4CEB50-AF37-42E7-8DDC-5F48343D80C3}"/>
              </a:ext>
            </a:extLst>
          </p:cNvPr>
          <p:cNvSpPr>
            <a:spLocks xmlns:a="http://schemas.openxmlformats.org/drawingml/2006/main" noGrp="1"/>
          </p:cNvSpPr>
          <p:nvPr/>
        </p:nvSpPr>
        <p:spPr>
          <a:xfrm xmlns:a="http://schemas.openxmlformats.org/drawingml/2006/main">
            <a:off x="1249640" y="160019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8" name="Google Shape;168;p11">
            <a:extLst xmlns:a="http://schemas.openxmlformats.org/drawingml/2006/main">
              <a:ext uri="{FF2B5EF4-FFF2-40B4-BE49-F238E27FC236}">
                <a16:creationId xmlns:a16="http://schemas.microsoft.com/office/drawing/2014/main" id="{0E7BFBE0-265A-44AD-A8FE-7366A706AFDE}"/>
              </a:ext>
            </a:extLst>
          </p:cNvPr>
          <p:cNvSpPr>
            <a:spLocks xmlns:a="http://schemas.openxmlformats.org/drawingml/2006/main" noGrp="1"/>
          </p:cNvSpPr>
          <p:nvPr/>
        </p:nvSpPr>
        <p:spPr>
          <a:xfrm xmlns:a="http://schemas.openxmlformats.org/drawingml/2006/main">
            <a:off x="1478240" y="180135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9" name="Google Shape;169;p11">
            <a:extLst xmlns:a="http://schemas.openxmlformats.org/drawingml/2006/main">
              <a:ext uri="{FF2B5EF4-FFF2-40B4-BE49-F238E27FC236}">
                <a16:creationId xmlns:a16="http://schemas.microsoft.com/office/drawing/2014/main" id="{E33DB0EB-C561-466C-A732-B61014B2C0A4}"/>
              </a:ext>
            </a:extLst>
          </p:cNvPr>
          <p:cNvSpPr>
            <a:spLocks xmlns:a="http://schemas.openxmlformats.org/drawingml/2006/main" noGrp="1"/>
          </p:cNvSpPr>
          <p:nvPr/>
        </p:nvSpPr>
        <p:spPr>
          <a:xfrm xmlns:a="http://schemas.openxmlformats.org/drawingml/2006/main">
            <a:off x="1478240" y="180135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strike="noStrike" cap="none">
                <a:solidFill>
                  <a:srgbClr val="FFFFFF"/>
                </a:solidFill>
                <a:latin typeface="Calibri"/>
                <a:ea typeface="Calibri"/>
                <a:cs typeface="Calibri"/>
              </a:rPr>
              <a:t>✓</a:t>
            </a:r>
            <a:endParaRPr sz="1500" b="0" i="0" u="none" strike="noStrike" cap="none">
              <a:solidFill>
                <a:schemeClr val="dk1"/>
              </a:solidFill>
              <a:latin typeface="Calibri"/>
              <a:ea typeface="Calibri"/>
              <a:cs typeface="Calibri"/>
            </a:endParaRPr>
          </a:p>
        </p:txBody>
      </p:sp>
      <p:sp>
        <p:nvSpPr>
          <p:cNvPr id="170" name="Google Shape;170;p11">
            <a:extLst xmlns:a="http://schemas.openxmlformats.org/drawingml/2006/main">
              <a:ext uri="{FF2B5EF4-FFF2-40B4-BE49-F238E27FC236}">
                <a16:creationId xmlns:a16="http://schemas.microsoft.com/office/drawing/2014/main" id="{2194127A-8235-49FD-8E65-C2E78C5BE1B4}"/>
              </a:ext>
            </a:extLst>
          </p:cNvPr>
          <p:cNvSpPr>
            <a:spLocks xmlns:a="http://schemas.openxmlformats.org/drawingml/2006/main" noGrp="1"/>
          </p:cNvSpPr>
          <p:nvPr/>
        </p:nvSpPr>
        <p:spPr>
          <a:xfrm xmlns:a="http://schemas.openxmlformats.org/drawingml/2006/main">
            <a:off x="2072600" y="160019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rPr sz="1500" b="1" i="0" u="none" strike="noStrike" cap="none">
                <a:solidFill>
                  <a:srgbClr val="21295C"/>
                </a:solidFill>
                <a:latin typeface="Calibri"/>
                <a:ea typeface="Calibri"/>
                <a:cs typeface="Calibri"/>
              </a:rPr>
              <a:t>Project report and presentation: prepared in the supplied college formats.</a:t>
            </a:r>
            <a:endParaRPr/>
          </a:p>
        </p:txBody>
      </p:sp>
      <p:sp>
        <p:nvSpPr>
          <p:cNvPr id="171" name="Google Shape;171;p11">
            <a:extLst xmlns:a="http://schemas.openxmlformats.org/drawingml/2006/main">
              <a:ext uri="{FF2B5EF4-FFF2-40B4-BE49-F238E27FC236}">
                <a16:creationId xmlns:a16="http://schemas.microsoft.com/office/drawing/2014/main" id="{750BE5CB-B698-4778-BEC1-725A517C3666}"/>
              </a:ext>
            </a:extLst>
          </p:cNvPr>
          <p:cNvSpPr>
            <a:spLocks xmlns:a="http://schemas.openxmlformats.org/drawingml/2006/main" noGrp="1"/>
          </p:cNvSpPr>
          <p:nvPr/>
        </p:nvSpPr>
        <p:spPr>
          <a:xfrm xmlns:a="http://schemas.openxmlformats.org/drawingml/2006/main">
            <a:off x="1249640" y="256031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72" name="Google Shape;172;p11">
            <a:extLst xmlns:a="http://schemas.openxmlformats.org/drawingml/2006/main">
              <a:ext uri="{FF2B5EF4-FFF2-40B4-BE49-F238E27FC236}">
                <a16:creationId xmlns:a16="http://schemas.microsoft.com/office/drawing/2014/main" id="{0CD3ADC7-06E9-442B-9671-72A6D4339B98}"/>
              </a:ext>
            </a:extLst>
          </p:cNvPr>
          <p:cNvSpPr>
            <a:spLocks xmlns:a="http://schemas.openxmlformats.org/drawingml/2006/main" noGrp="1"/>
          </p:cNvSpPr>
          <p:nvPr/>
        </p:nvSpPr>
        <p:spPr>
          <a:xfrm xmlns:a="http://schemas.openxmlformats.org/drawingml/2006/main">
            <a:off x="1478240" y="276147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73" name="Google Shape;173;p11">
            <a:extLst xmlns:a="http://schemas.openxmlformats.org/drawingml/2006/main">
              <a:ext uri="{FF2B5EF4-FFF2-40B4-BE49-F238E27FC236}">
                <a16:creationId xmlns:a16="http://schemas.microsoft.com/office/drawing/2014/main" id="{345D3491-C0E4-4693-AAD7-F63A0CC9B3F1}"/>
              </a:ext>
            </a:extLst>
          </p:cNvPr>
          <p:cNvSpPr>
            <a:spLocks xmlns:a="http://schemas.openxmlformats.org/drawingml/2006/main" noGrp="1"/>
          </p:cNvSpPr>
          <p:nvPr/>
        </p:nvSpPr>
        <p:spPr>
          <a:xfrm xmlns:a="http://schemas.openxmlformats.org/drawingml/2006/main">
            <a:off x="1478240" y="276147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strike="noStrike" cap="none">
                <a:solidFill>
                  <a:srgbClr val="FFFFFF"/>
                </a:solidFill>
                <a:latin typeface="Calibri"/>
                <a:ea typeface="Calibri"/>
                <a:cs typeface="Calibri"/>
              </a:rPr>
              <a:t>✓</a:t>
            </a:r>
            <a:endParaRPr sz="1500" b="0" i="0" u="none" strike="noStrike" cap="none">
              <a:solidFill>
                <a:schemeClr val="dk1"/>
              </a:solidFill>
              <a:latin typeface="Calibri"/>
              <a:ea typeface="Calibri"/>
              <a:cs typeface="Calibri"/>
            </a:endParaRPr>
          </a:p>
        </p:txBody>
      </p:sp>
      <p:sp>
        <p:nvSpPr>
          <p:cNvPr id="174" name="Google Shape;174;p11">
            <a:extLst xmlns:a="http://schemas.openxmlformats.org/drawingml/2006/main">
              <a:ext uri="{FF2B5EF4-FFF2-40B4-BE49-F238E27FC236}">
                <a16:creationId xmlns:a16="http://schemas.microsoft.com/office/drawing/2014/main" id="{5D34D3A8-B219-4241-91A9-C0682CC2325A}"/>
              </a:ext>
            </a:extLst>
          </p:cNvPr>
          <p:cNvSpPr>
            <a:spLocks xmlns:a="http://schemas.openxmlformats.org/drawingml/2006/main" noGrp="1"/>
          </p:cNvSpPr>
          <p:nvPr/>
        </p:nvSpPr>
        <p:spPr>
          <a:xfrm xmlns:a="http://schemas.openxmlformats.org/drawingml/2006/main">
            <a:off x="2072600" y="256031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rPr sz="1500" b="1" i="0" u="none" strike="noStrike" cap="none">
                <a:solidFill>
                  <a:srgbClr val="21295C"/>
                </a:solidFill>
                <a:latin typeface="Calibri"/>
                <a:ea typeface="Calibri"/>
                <a:cs typeface="Calibri"/>
              </a:rPr>
              <a:t>Source code, clean data, model and notebook: included in the project folder.</a:t>
            </a:r>
            <a:endParaRPr/>
          </a:p>
        </p:txBody>
      </p:sp>
      <p:sp>
        <p:nvSpPr>
          <p:cNvPr id="175" name="Google Shape;175;p11">
            <a:extLst xmlns:a="http://schemas.openxmlformats.org/drawingml/2006/main">
              <a:ext uri="{FF2B5EF4-FFF2-40B4-BE49-F238E27FC236}">
                <a16:creationId xmlns:a16="http://schemas.microsoft.com/office/drawing/2014/main" id="{2948691C-8F3E-4884-A81E-8B84D53753EF}"/>
              </a:ext>
            </a:extLst>
          </p:cNvPr>
          <p:cNvSpPr>
            <a:spLocks xmlns:a="http://schemas.openxmlformats.org/drawingml/2006/main" noGrp="1"/>
          </p:cNvSpPr>
          <p:nvPr/>
        </p:nvSpPr>
        <p:spPr>
          <a:xfrm xmlns:a="http://schemas.openxmlformats.org/drawingml/2006/main">
            <a:off x="1249640" y="352043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76" name="Google Shape;176;p11">
            <a:extLst xmlns:a="http://schemas.openxmlformats.org/drawingml/2006/main">
              <a:ext uri="{FF2B5EF4-FFF2-40B4-BE49-F238E27FC236}">
                <a16:creationId xmlns:a16="http://schemas.microsoft.com/office/drawing/2014/main" id="{4BCD78E1-0385-4047-B108-0F08AF5865D3}"/>
              </a:ext>
            </a:extLst>
          </p:cNvPr>
          <p:cNvSpPr>
            <a:spLocks xmlns:a="http://schemas.openxmlformats.org/drawingml/2006/main" noGrp="1"/>
          </p:cNvSpPr>
          <p:nvPr/>
        </p:nvSpPr>
        <p:spPr>
          <a:xfrm xmlns:a="http://schemas.openxmlformats.org/drawingml/2006/main">
            <a:off x="1478240" y="372159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77" name="Google Shape;177;p11">
            <a:extLst xmlns:a="http://schemas.openxmlformats.org/drawingml/2006/main">
              <a:ext uri="{FF2B5EF4-FFF2-40B4-BE49-F238E27FC236}">
                <a16:creationId xmlns:a16="http://schemas.microsoft.com/office/drawing/2014/main" id="{B59CA585-2A35-4542-9653-E076697A351F}"/>
              </a:ext>
            </a:extLst>
          </p:cNvPr>
          <p:cNvSpPr>
            <a:spLocks xmlns:a="http://schemas.openxmlformats.org/drawingml/2006/main" noGrp="1"/>
          </p:cNvSpPr>
          <p:nvPr/>
        </p:nvSpPr>
        <p:spPr>
          <a:xfrm xmlns:a="http://schemas.openxmlformats.org/drawingml/2006/main">
            <a:off x="1478240" y="372159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strike="noStrike" cap="none">
                <a:solidFill>
                  <a:srgbClr val="FFFFFF"/>
                </a:solidFill>
                <a:latin typeface="Calibri"/>
                <a:ea typeface="Calibri"/>
                <a:cs typeface="Calibri"/>
              </a:rPr>
              <a:t>…</a:t>
            </a:r>
            <a:endParaRPr sz="1500" b="0" i="0" u="none" strike="noStrike" cap="none">
              <a:solidFill>
                <a:schemeClr val="dk1"/>
              </a:solidFill>
              <a:latin typeface="Calibri"/>
              <a:ea typeface="Calibri"/>
              <a:cs typeface="Calibri"/>
            </a:endParaRPr>
          </a:p>
        </p:txBody>
      </p:sp>
      <p:sp>
        <p:nvSpPr>
          <p:cNvPr id="178" name="Google Shape;178;p11">
            <a:extLst xmlns:a="http://schemas.openxmlformats.org/drawingml/2006/main">
              <a:ext uri="{FF2B5EF4-FFF2-40B4-BE49-F238E27FC236}">
                <a16:creationId xmlns:a16="http://schemas.microsoft.com/office/drawing/2014/main" id="{FFC113EB-3585-48EA-BC03-89FD2DBE4EF1}"/>
              </a:ext>
            </a:extLst>
          </p:cNvPr>
          <p:cNvSpPr>
            <a:spLocks xmlns:a="http://schemas.openxmlformats.org/drawingml/2006/main" noGrp="1"/>
          </p:cNvSpPr>
          <p:nvPr/>
        </p:nvSpPr>
        <p:spPr>
          <a:xfrm xmlns:a="http://schemas.openxmlformats.org/drawingml/2006/main">
            <a:off x="2072600" y="352043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rPr sz="1500" b="1" i="0" u="none" strike="noStrike" cap="none">
                <a:solidFill>
                  <a:srgbClr val="21295C"/>
                </a:solidFill>
                <a:latin typeface="Calibri"/>
                <a:ea typeface="Calibri"/>
                <a:cs typeface="Calibri"/>
              </a:rPr>
              <a:t>Offer letter and completion certificate: [Attach authentic organisation documents].</a:t>
            </a:r>
            <a:endParaRPr/>
          </a:p>
        </p:txBody>
      </p:sp>
      <p:sp>
        <p:nvSpPr>
          <p:cNvPr id="179" name="Google Shape;179;p11">
            <a:extLst xmlns:a="http://schemas.openxmlformats.org/drawingml/2006/main">
              <a:ext uri="{FF2B5EF4-FFF2-40B4-BE49-F238E27FC236}">
                <a16:creationId xmlns:a16="http://schemas.microsoft.com/office/drawing/2014/main" id="{D88187F5-A56E-49D4-A51F-9F7FC13E141B}"/>
              </a:ext>
            </a:extLst>
          </p:cNvPr>
          <p:cNvSpPr>
            <a:spLocks xmlns:a="http://schemas.openxmlformats.org/drawingml/2006/main" noGrp="1"/>
          </p:cNvSpPr>
          <p:nvPr/>
        </p:nvSpPr>
        <p:spPr>
          <a:xfrm xmlns:a="http://schemas.openxmlformats.org/drawingml/2006/main">
            <a:off x="1249640" y="448055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ap="flat" cmpd="sng">
            <a:solidFill>
              <a:srgbClr val="DEE4E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80" name="Google Shape;180;p11">
            <a:extLst xmlns:a="http://schemas.openxmlformats.org/drawingml/2006/main">
              <a:ext uri="{FF2B5EF4-FFF2-40B4-BE49-F238E27FC236}">
                <a16:creationId xmlns:a16="http://schemas.microsoft.com/office/drawing/2014/main" id="{A08AF9A7-5DE7-4334-8685-9CD54AE12E48}"/>
              </a:ext>
            </a:extLst>
          </p:cNvPr>
          <p:cNvSpPr>
            <a:spLocks xmlns:a="http://schemas.openxmlformats.org/drawingml/2006/main" noGrp="1"/>
          </p:cNvSpPr>
          <p:nvPr/>
        </p:nvSpPr>
        <p:spPr>
          <a:xfrm xmlns:a="http://schemas.openxmlformats.org/drawingml/2006/main">
            <a:off x="1478240" y="468171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81" name="Google Shape;181;p11">
            <a:extLst xmlns:a="http://schemas.openxmlformats.org/drawingml/2006/main">
              <a:ext uri="{FF2B5EF4-FFF2-40B4-BE49-F238E27FC236}">
                <a16:creationId xmlns:a16="http://schemas.microsoft.com/office/drawing/2014/main" id="{CBAC58DA-8C3A-48D4-AE33-BE2AD4405771}"/>
              </a:ext>
            </a:extLst>
          </p:cNvPr>
          <p:cNvSpPr>
            <a:spLocks xmlns:a="http://schemas.openxmlformats.org/drawingml/2006/main" noGrp="1"/>
          </p:cNvSpPr>
          <p:nvPr/>
        </p:nvSpPr>
        <p:spPr>
          <a:xfrm xmlns:a="http://schemas.openxmlformats.org/drawingml/2006/main">
            <a:off x="1478240" y="468171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strike="noStrike" cap="none">
                <a:solidFill>
                  <a:srgbClr val="FFFFFF"/>
                </a:solidFill>
                <a:latin typeface="Calibri"/>
                <a:ea typeface="Calibri"/>
                <a:cs typeface="Calibri"/>
              </a:rPr>
              <a:t>…</a:t>
            </a:r>
            <a:endParaRPr sz="1500" b="0" i="0" u="none" strike="noStrike" cap="none">
              <a:solidFill>
                <a:schemeClr val="dk1"/>
              </a:solidFill>
              <a:latin typeface="Calibri"/>
              <a:ea typeface="Calibri"/>
              <a:cs typeface="Calibri"/>
            </a:endParaRPr>
          </a:p>
        </p:txBody>
      </p:sp>
      <p:sp>
        <p:nvSpPr>
          <p:cNvPr id="182" name="Google Shape;182;p11">
            <a:extLst xmlns:a="http://schemas.openxmlformats.org/drawingml/2006/main">
              <a:ext uri="{FF2B5EF4-FFF2-40B4-BE49-F238E27FC236}">
                <a16:creationId xmlns:a16="http://schemas.microsoft.com/office/drawing/2014/main" id="{A8ED8D8A-92E7-4BA2-B206-E08184554D2B}"/>
              </a:ext>
            </a:extLst>
          </p:cNvPr>
          <p:cNvSpPr>
            <a:spLocks xmlns:a="http://schemas.openxmlformats.org/drawingml/2006/main" noGrp="1"/>
          </p:cNvSpPr>
          <p:nvPr/>
        </p:nvSpPr>
        <p:spPr>
          <a:xfrm xmlns:a="http://schemas.openxmlformats.org/drawingml/2006/main">
            <a:off x="2072600" y="448055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rPr sz="1500" b="1" i="0" u="none" strike="noStrike" cap="none">
                <a:solidFill>
                  <a:srgbClr val="21295C"/>
                </a:solidFill>
                <a:latin typeface="Calibri"/>
                <a:ea typeface="Calibri"/>
                <a:cs typeface="Calibri"/>
              </a:rPr>
              <a:t>Supervisor feedback: [To be completed and signed by the mentor].</a:t>
            </a:r>
            <a:endParaRPr/>
          </a:p>
        </p:txBody>
      </p:sp>
      <p:sp>
        <p:nvSpPr>
          <p:cNvPr id="183" name="Google Shape;183;p11">
            <a:extLst xmlns:a="http://schemas.openxmlformats.org/drawingml/2006/main">
              <a:ext uri="{FF2B5EF4-FFF2-40B4-BE49-F238E27FC236}">
                <a16:creationId xmlns:a16="http://schemas.microsoft.com/office/drawing/2014/main" id="{C75C7E47-8ECB-4CB2-94B7-6DE41A210197}"/>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B.TECH SUMMER INTERNSHIP PRESENTATION  ·  LLOYD INSTITUTE OF ENGINEERING &amp; TECHNOLOGY</a:t>
            </a:r>
            <a:endParaRPr sz="900" b="0" i="0" u="none" strike="noStrike" cap="none">
              <a:solidFill>
                <a:schemeClr val="dk1"/>
              </a:solidFill>
              <a:latin typeface="Calibri"/>
              <a:ea typeface="Calibri"/>
              <a:cs typeface="Calibri"/>
            </a:endParaRPr>
          </a:p>
        </p:txBody>
      </p:sp>
      <p:sp>
        <p:nvSpPr>
          <p:cNvPr id="184" name="Google Shape;184;p11">
            <a:extLst xmlns:a="http://schemas.openxmlformats.org/drawingml/2006/main">
              <a:ext uri="{FF2B5EF4-FFF2-40B4-BE49-F238E27FC236}">
                <a16:creationId xmlns:a16="http://schemas.microsoft.com/office/drawing/2014/main" id="{C8A47B10-FB39-49CE-932F-4748E456FAFC}"/>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strike="noStrike" cap="none">
                <a:solidFill>
                  <a:srgbClr val="6B7593"/>
                </a:solidFill>
                <a:latin typeface="Calibri"/>
                <a:ea typeface="Calibri"/>
                <a:cs typeface="Calibri"/>
              </a:rPr>
              <a:t>9</a:t>
            </a:r>
            <a:endParaRPr sz="9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469220580"/>
      </p:ext>
    </p:extLst>
  </p:cSld>
</p:sld>
</file>

<file path=ppt/slides/slide10.xml><?xml version="1.0" encoding="utf-8"?>
<p:sld xmlns:p="http://schemas.openxmlformats.org/presentationml/2006/main">
  <p:cSld>
    <p:bg>
      <p:bgPr>
        <a:solidFill xmlns:a="http://schemas.openxmlformats.org/drawingml/2006/main">
          <a:srgbClr val="21295C"/>
        </a:solidFill>
      </p:bgPr>
    </p:bg>
    <p:spTree>
      <p:nvGrpSpPr>
        <p:cNvPr id="1" name=""/>
        <p:cNvGrpSpPr/>
        <p:nvPr/>
      </p:nvGrpSpPr>
      <p:grpSpPr>
        <a:xfrm xmlns:a="http://schemas.openxmlformats.org/drawingml/2006/main"/>
      </p:grpSpPr>
      <p:sp>
        <p:nvSpPr>
          <p:cNvPr id="190" name="Google Shape;190;p12">
            <a:extLst xmlns:a="http://schemas.openxmlformats.org/drawingml/2006/main">
              <a:ext uri="{FF2B5EF4-FFF2-40B4-BE49-F238E27FC236}">
                <a16:creationId xmlns:a16="http://schemas.microsoft.com/office/drawing/2014/main" id="{2E013321-D9E4-42E4-A605-D08894B7D2C6}"/>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18039"/>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91" name="Google Shape;191;p12">
            <a:extLst xmlns:a="http://schemas.openxmlformats.org/drawingml/2006/main">
              <a:ext uri="{FF2B5EF4-FFF2-40B4-BE49-F238E27FC236}">
                <a16:creationId xmlns:a16="http://schemas.microsoft.com/office/drawing/2014/main" id="{67ACC55C-8360-4384-A8C2-402374D002B1}"/>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CFE3EE">
              <a:alpha val="10196"/>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92" name="Google Shape;192;p12">
            <a:extLst xmlns:a="http://schemas.openxmlformats.org/drawingml/2006/main">
              <a:ext uri="{FF2B5EF4-FFF2-40B4-BE49-F238E27FC236}">
                <a16:creationId xmlns:a16="http://schemas.microsoft.com/office/drawing/2014/main" id="{C1AFDDA4-8EFE-4973-AB3D-1A3544328673}"/>
              </a:ext>
            </a:extLst>
          </p:cNvPr>
          <p:cNvSpPr>
            <a:spLocks xmlns:a="http://schemas.openxmlformats.org/drawingml/2006/main" noGrp="1"/>
          </p:cNvSpPr>
          <p:nvPr/>
        </p:nvSpPr>
        <p:spPr>
          <a:xfrm xmlns:a="http://schemas.openxmlformats.org/drawingml/2006/main">
            <a:off x="914400" y="2201525"/>
            <a:ext cx="10360200" cy="113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800"/>
              <a:buFont typeface="Cambria"/>
              <a:buNone/>
            </a:pPr>
            <a:r>
              <a:rPr sz="4800" b="1" i="0" u="none" strike="noStrike" cap="none">
                <a:solidFill>
                  <a:srgbClr val="FFFFFF"/>
                </a:solidFill>
                <a:latin typeface="Cambria"/>
                <a:ea typeface="Cambria"/>
                <a:cs typeface="Cambria"/>
              </a:rPr>
              <a:t>THANK YOU</a:t>
            </a:r>
            <a:endParaRPr sz="4800" b="0" i="0" u="none" strike="noStrike" cap="none">
              <a:solidFill>
                <a:schemeClr val="dk1"/>
              </a:solidFill>
              <a:latin typeface="Calibri"/>
              <a:ea typeface="Calibri"/>
              <a:cs typeface="Calibri"/>
            </a:endParaRPr>
          </a:p>
        </p:txBody>
      </p:sp>
      <p:sp>
        <p:nvSpPr>
          <p:cNvPr id="193" name="Google Shape;193;p12">
            <a:extLst xmlns:a="http://schemas.openxmlformats.org/drawingml/2006/main">
              <a:ext uri="{FF2B5EF4-FFF2-40B4-BE49-F238E27FC236}">
                <a16:creationId xmlns:a16="http://schemas.microsoft.com/office/drawing/2014/main" id="{479EA38C-BBBA-480D-A0A3-CD8C269AD81A}"/>
              </a:ext>
            </a:extLst>
          </p:cNvPr>
          <p:cNvSpPr>
            <a:spLocks xmlns:a="http://schemas.openxmlformats.org/drawingml/2006/main" noGrp="1"/>
          </p:cNvSpPr>
          <p:nvPr/>
        </p:nvSpPr>
        <p:spPr>
          <a:xfrm xmlns:a="http://schemas.openxmlformats.org/drawingml/2006/main">
            <a:off x="914400" y="3337626"/>
            <a:ext cx="10360200" cy="43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600"/>
              <a:buFont typeface="Calibri"/>
              <a:buNone/>
            </a:pPr>
            <a:r>
              <a:rPr sz="1600" b="0" i="1" u="none" strike="noStrike" cap="none">
                <a:solidFill>
                  <a:srgbClr val="CFE3EE"/>
                </a:solidFill>
                <a:latin typeface="Calibri"/>
                <a:ea typeface="Calibri"/>
                <a:cs typeface="Calibri"/>
              </a:rPr>
              <a:t>Questions &amp; suggestions from the panel are welcome</a:t>
            </a:r>
            <a:endParaRPr sz="1600" b="0" i="0" u="none" strike="noStrike" cap="none">
              <a:solidFill>
                <a:schemeClr val="dk1"/>
              </a:solidFill>
              <a:latin typeface="Calibri"/>
              <a:ea typeface="Calibri"/>
              <a:cs typeface="Calibri"/>
            </a:endParaRPr>
          </a:p>
        </p:txBody>
      </p:sp>
      <p:cxnSp>
        <p:nvCxnSpPr>
          <p:cNvPr id="194" name="Google Shape;194;p12">
            <a:extLst xmlns:a="http://schemas.openxmlformats.org/drawingml/2006/main">
              <a:ext uri="{FF2B5EF4-FFF2-40B4-BE49-F238E27FC236}">
                <a16:creationId xmlns:a16="http://schemas.microsoft.com/office/drawing/2014/main" id="{3DA111D0-7ED0-4CB1-8EEC-1C0C712BB52F}"/>
              </a:ext>
            </a:extLst>
          </p:cNvPr>
          <p:cNvCxnSpPr/>
          <p:nvPr/>
        </p:nvCxnSpPr>
        <p:spPr>
          <a:xfrm xmlns:a="http://schemas.openxmlformats.org/drawingml/2006/main">
            <a:off x="5271516" y="4160520"/>
            <a:ext cx="1645920" cy="0"/>
          </a:xfrm>
          <a:prstGeom xmlns:a="http://schemas.openxmlformats.org/drawingml/2006/main" prst="straightConnector1">
            <a:avLst/>
          </a:prstGeom>
          <a:ln xmlns:a="http://schemas.openxmlformats.org/drawingml/2006/main" w="25400" cap="flat">
            <a:solidFill>
              <a:srgbClr val="1C7293"/>
            </a:solidFill>
            <a:prstDash val="solid"/>
            <a:round/>
            <a:headEnd type="none" w="sm" len="sm"/>
            <a:tailEnd type="none" w="sm" len="sm"/>
          </a:ln>
        </p:spPr>
      </p:cxnSp>
      <p:sp>
        <p:nvSpPr>
          <p:cNvPr id="195" name="Google Shape;195;p12">
            <a:extLst xmlns:a="http://schemas.openxmlformats.org/drawingml/2006/main">
              <a:ext uri="{FF2B5EF4-FFF2-40B4-BE49-F238E27FC236}">
                <a16:creationId xmlns:a16="http://schemas.microsoft.com/office/drawing/2014/main" id="{C6A990F8-C1FF-4F15-87A2-45390D0254B4}"/>
              </a:ext>
            </a:extLst>
          </p:cNvPr>
          <p:cNvSpPr>
            <a:spLocks xmlns:a="http://schemas.openxmlformats.org/drawingml/2006/main" noGrp="1"/>
          </p:cNvSpPr>
          <p:nvPr/>
        </p:nvSpPr>
        <p:spPr>
          <a:xfrm xmlns:a="http://schemas.openxmlformats.org/drawingml/2006/main">
            <a:off x="915925" y="4559880"/>
            <a:ext cx="103602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100"/>
              <a:buFont typeface="Calibri"/>
              <a:buNone/>
            </a:pPr>
            <a:r>
              <a:rPr sz="1300" b="0" i="0" u="none" strike="noStrike" cap="none">
                <a:solidFill>
                  <a:srgbClr val="CFE3EE"/>
                </a:solidFill>
                <a:latin typeface="Calibri"/>
                <a:ea typeface="Calibri"/>
                <a:cs typeface="Calibri"/>
              </a:rPr>
              <a:t>Lloyd Institute of Engineering &amp; Technology, Greater Noida</a:t>
            </a:r>
            <a:endParaRPr sz="13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407541064"/>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2026-10-24T06:52:33.4470000Z</dcterms:created>
  <dcterms:modified xsi:type="dcterms:W3CDTF">2026-10-24T06:52:33.4470000Z</dcterms:modified>
</coreProperties>
</file>